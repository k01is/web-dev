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</p:sldMasterIdLst>
  <p:notesMasterIdLst>
    <p:notesMasterId r:id="rId27"/>
  </p:notesMasterIdLst>
  <p:sldIdLst>
    <p:sldId id="256" r:id="rId3"/>
    <p:sldId id="260" r:id="rId4"/>
    <p:sldId id="262" r:id="rId5"/>
    <p:sldId id="261" r:id="rId6"/>
    <p:sldId id="347" r:id="rId7"/>
    <p:sldId id="329" r:id="rId8"/>
    <p:sldId id="350" r:id="rId9"/>
    <p:sldId id="364" r:id="rId10"/>
    <p:sldId id="365" r:id="rId11"/>
    <p:sldId id="348" r:id="rId12"/>
    <p:sldId id="349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18" r:id="rId25"/>
    <p:sldId id="296" r:id="rId26"/>
  </p:sldIdLst>
  <p:sldSz cx="9144000" cy="5143500" type="screen16x9"/>
  <p:notesSz cx="6858000" cy="9144000"/>
  <p:embeddedFontLst>
    <p:embeddedFont>
      <p:font typeface="IBM Plex Sans SemiBold" pitchFamily="34" charset="0"/>
      <p:bold r:id="rId28"/>
    </p:embeddedFont>
    <p:embeddedFont>
      <p:font typeface="IBM Plex Sans" pitchFamily="34" charset="0"/>
      <p:regular r:id="rId29"/>
      <p:bold r:id="rId30"/>
      <p:italic r:id="rId31"/>
      <p:boldItalic r:id="rId32"/>
    </p:embeddedFont>
    <p:embeddedFont>
      <p:font typeface="Roboto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1" autoAdjust="0"/>
    <p:restoredTop sz="94660"/>
  </p:normalViewPr>
  <p:slideViewPr>
    <p:cSldViewPr>
      <p:cViewPr>
        <p:scale>
          <a:sx n="90" d="100"/>
          <a:sy n="90" d="100"/>
        </p:scale>
        <p:origin x="-468" y="12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54964b37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54964b37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Выбери любой подходящий макет с названием “Титульник”.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5d497594f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5d497594f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Стандартный слайд. Не меняем его, меняем текст в нем.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3292ca0de_0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23292ca0de_0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23292ca0de_0_1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23292ca0de_0_1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Стандартный слайд. Не меняем его совсем. Но всегда используем в конце презентации.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Титульник">
  <p:cSld name="TITLE_1_4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19904" y="0"/>
            <a:ext cx="4724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Титульник">
  <p:cSld name="TITLE_1_2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72100" y="1687275"/>
            <a:ext cx="3590899" cy="30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70" name="Google Shape;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Титульник">
  <p:cSld name="TITLE_1_2_1_1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2821" y="0"/>
            <a:ext cx="76111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6224"/>
            <a:ext cx="4788650" cy="194727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1" name="Google Shape;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Титульник">
  <p:cSld name="TITLE_1_2_1_1_1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6" name="Google Shape;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Титульник">
  <p:cSld name="TITLE_1_2_1_1_1_1"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Пустой титульник, вставь справа иллюстрацию по теме">
  <p:cSld name="TITLE_1_2_1_1_1_1_1"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95" name="Google Shape;9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Отбивка">
  <p:cSld name="TITLE_1_1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9025" y="6715"/>
            <a:ext cx="420168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01" name="Google Shape;1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Отбивка">
  <p:cSld name="TITLE_1_1_1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31875" y="0"/>
            <a:ext cx="581211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12" name="Google Shape;1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Отбивка ">
  <p:cSld name="TITLE_1_1_1_1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18" name="Google Shape;1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Отбивка  (без графики)">
  <p:cSld name="TITLE_1_1_1_1_1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23" name="Google Shape;12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1">
  <p:cSld name="1_Title slide 5_2_1_5"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Заголовок + текст">
  <p:cSld name="1_Title slide 5_2_1_4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8064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0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Заголовок + текст в два столбца">
  <p:cSld name="1_Title slide 5_2_1_4_2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38556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ubTitle" idx="2"/>
          </p:nvPr>
        </p:nvSpPr>
        <p:spPr>
          <a:xfrm>
            <a:off x="4752000" y="1260000"/>
            <a:ext cx="38556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39" name="Google Shape;13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>
            <a:spLocks noGrp="1"/>
          </p:cNvSpPr>
          <p:nvPr>
            <p:ph type="subTitle" idx="3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Что будет на уроке - 1 вариант">
  <p:cSld name="1_Title slide 5_2_1_2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48" name="Google Shape;148;p33"/>
          <p:cNvSpPr txBox="1">
            <a:spLocks noGrp="1"/>
          </p:cNvSpPr>
          <p:nvPr>
            <p:ph type="subTitle" idx="1"/>
          </p:nvPr>
        </p:nvSpPr>
        <p:spPr>
          <a:xfrm>
            <a:off x="536400" y="144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2"/>
          </p:nvPr>
        </p:nvSpPr>
        <p:spPr>
          <a:xfrm>
            <a:off x="536400" y="1738800"/>
            <a:ext cx="385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subTitle" idx="3"/>
          </p:nvPr>
        </p:nvSpPr>
        <p:spPr>
          <a:xfrm>
            <a:off x="536400" y="261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body" idx="4"/>
          </p:nvPr>
        </p:nvSpPr>
        <p:spPr>
          <a:xfrm>
            <a:off x="536400" y="29088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subTitle" idx="5"/>
          </p:nvPr>
        </p:nvSpPr>
        <p:spPr>
          <a:xfrm>
            <a:off x="536400" y="37764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6"/>
          </p:nvPr>
        </p:nvSpPr>
        <p:spPr>
          <a:xfrm>
            <a:off x="536400" y="40752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4" name="Google Shape;154;p33"/>
          <p:cNvSpPr txBox="1">
            <a:spLocks noGrp="1"/>
          </p:cNvSpPr>
          <p:nvPr>
            <p:ph type="subTitle" idx="7"/>
          </p:nvPr>
        </p:nvSpPr>
        <p:spPr>
          <a:xfrm>
            <a:off x="4751990" y="144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body" idx="8"/>
          </p:nvPr>
        </p:nvSpPr>
        <p:spPr>
          <a:xfrm>
            <a:off x="4752000" y="1738800"/>
            <a:ext cx="385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subTitle" idx="9"/>
          </p:nvPr>
        </p:nvSpPr>
        <p:spPr>
          <a:xfrm>
            <a:off x="4752000" y="261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body" idx="13"/>
          </p:nvPr>
        </p:nvSpPr>
        <p:spPr>
          <a:xfrm>
            <a:off x="4752000" y="29088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ubTitle" idx="14"/>
          </p:nvPr>
        </p:nvSpPr>
        <p:spPr>
          <a:xfrm>
            <a:off x="4752000" y="37764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body" idx="15"/>
          </p:nvPr>
        </p:nvSpPr>
        <p:spPr>
          <a:xfrm>
            <a:off x="4752000" y="40752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60" name="Google Shape;16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3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Что будет на уроке - 2 вариант ">
  <p:cSld name="1_Title slide 5_2_1_2_1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64" name="Google Shape;164;p34"/>
          <p:cNvSpPr txBox="1">
            <a:spLocks noGrp="1"/>
          </p:cNvSpPr>
          <p:nvPr>
            <p:ph type="body" idx="1"/>
          </p:nvPr>
        </p:nvSpPr>
        <p:spPr>
          <a:xfrm>
            <a:off x="1000800" y="20016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5" name="Google Shape;165;p34"/>
          <p:cNvSpPr txBox="1">
            <a:spLocks noGrp="1"/>
          </p:cNvSpPr>
          <p:nvPr>
            <p:ph type="subTitle" idx="2"/>
          </p:nvPr>
        </p:nvSpPr>
        <p:spPr>
          <a:xfrm>
            <a:off x="536400" y="25272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3"/>
          </p:nvPr>
        </p:nvSpPr>
        <p:spPr>
          <a:xfrm>
            <a:off x="1000800" y="30888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subTitle" idx="4"/>
          </p:nvPr>
        </p:nvSpPr>
        <p:spPr>
          <a:xfrm>
            <a:off x="536400" y="36144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8" name="Google Shape;168;p34"/>
          <p:cNvSpPr txBox="1">
            <a:spLocks noGrp="1"/>
          </p:cNvSpPr>
          <p:nvPr>
            <p:ph type="body" idx="5"/>
          </p:nvPr>
        </p:nvSpPr>
        <p:spPr>
          <a:xfrm>
            <a:off x="1000800" y="41760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subTitle" idx="6"/>
          </p:nvPr>
        </p:nvSpPr>
        <p:spPr>
          <a:xfrm>
            <a:off x="4751990" y="14400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body" idx="7"/>
          </p:nvPr>
        </p:nvSpPr>
        <p:spPr>
          <a:xfrm>
            <a:off x="5212800" y="20016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subTitle" idx="8"/>
          </p:nvPr>
        </p:nvSpPr>
        <p:spPr>
          <a:xfrm>
            <a:off x="4752000" y="25272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body" idx="9"/>
          </p:nvPr>
        </p:nvSpPr>
        <p:spPr>
          <a:xfrm>
            <a:off x="5212800" y="30888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subTitle" idx="13"/>
          </p:nvPr>
        </p:nvSpPr>
        <p:spPr>
          <a:xfrm>
            <a:off x="4752000" y="36144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body" idx="14"/>
          </p:nvPr>
        </p:nvSpPr>
        <p:spPr>
          <a:xfrm>
            <a:off x="5212800" y="41760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subTitle" idx="15"/>
          </p:nvPr>
        </p:nvSpPr>
        <p:spPr>
          <a:xfrm>
            <a:off x="540000" y="14400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4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ец презентации (благодарность)">
  <p:cSld name="CUSTOM_1_1"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250" y="2230975"/>
            <a:ext cx="1168075" cy="129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6"/>
          <p:cNvSpPr txBox="1"/>
          <p:nvPr/>
        </p:nvSpPr>
        <p:spPr>
          <a:xfrm>
            <a:off x="2006850" y="1496438"/>
            <a:ext cx="5130300" cy="2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Спасибо </a:t>
            </a:r>
            <a:endParaRPr sz="44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за внимание</a:t>
            </a:r>
            <a:endParaRPr sz="44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Для цитат">
  <p:cSld name="CUSTOM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>
            <a:spLocks noGrp="1"/>
          </p:cNvSpPr>
          <p:nvPr>
            <p:ph type="title"/>
          </p:nvPr>
        </p:nvSpPr>
        <p:spPr>
          <a:xfrm>
            <a:off x="936875" y="1004350"/>
            <a:ext cx="7270200" cy="3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">
  <p:cSld name="1_Title slide 5_2_1_4_1_1_1">
    <p:bg>
      <p:bgPr>
        <a:solidFill>
          <a:schemeClr val="l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ubTitle" idx="2"/>
          </p:nvPr>
        </p:nvSpPr>
        <p:spPr>
          <a:xfrm>
            <a:off x="12587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subTitle" idx="3"/>
          </p:nvPr>
        </p:nvSpPr>
        <p:spPr>
          <a:xfrm>
            <a:off x="12587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ubTitle" idx="4"/>
          </p:nvPr>
        </p:nvSpPr>
        <p:spPr>
          <a:xfrm>
            <a:off x="12587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ubTitle" idx="5"/>
          </p:nvPr>
        </p:nvSpPr>
        <p:spPr>
          <a:xfrm>
            <a:off x="40716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ubTitle" idx="6"/>
          </p:nvPr>
        </p:nvSpPr>
        <p:spPr>
          <a:xfrm>
            <a:off x="40716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ubTitle" idx="7"/>
          </p:nvPr>
        </p:nvSpPr>
        <p:spPr>
          <a:xfrm>
            <a:off x="40716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1" name="Google Shape;201;p38"/>
          <p:cNvSpPr txBox="1">
            <a:spLocks noGrp="1"/>
          </p:cNvSpPr>
          <p:nvPr>
            <p:ph type="subTitle" idx="8"/>
          </p:nvPr>
        </p:nvSpPr>
        <p:spPr>
          <a:xfrm>
            <a:off x="68845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subTitle" idx="9"/>
          </p:nvPr>
        </p:nvSpPr>
        <p:spPr>
          <a:xfrm>
            <a:off x="68845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3"/>
          </p:nvPr>
        </p:nvSpPr>
        <p:spPr>
          <a:xfrm>
            <a:off x="68845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05" name="Google Shape;20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">
  <p:cSld name="1_Title slide 5_2_1_4_1_1_1_1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subTitle" idx="1"/>
          </p:nvPr>
        </p:nvSpPr>
        <p:spPr>
          <a:xfrm>
            <a:off x="1008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subTitle" idx="2"/>
          </p:nvPr>
        </p:nvSpPr>
        <p:spPr>
          <a:xfrm>
            <a:off x="1008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subTitle" idx="3"/>
          </p:nvPr>
        </p:nvSpPr>
        <p:spPr>
          <a:xfrm>
            <a:off x="1008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subTitle" idx="4"/>
          </p:nvPr>
        </p:nvSpPr>
        <p:spPr>
          <a:xfrm>
            <a:off x="1008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subTitle" idx="5"/>
          </p:nvPr>
        </p:nvSpPr>
        <p:spPr>
          <a:xfrm>
            <a:off x="1008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subTitle" idx="6"/>
          </p:nvPr>
        </p:nvSpPr>
        <p:spPr>
          <a:xfrm>
            <a:off x="3114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4" name="Google Shape;214;p39"/>
          <p:cNvSpPr txBox="1">
            <a:spLocks noGrp="1"/>
          </p:cNvSpPr>
          <p:nvPr>
            <p:ph type="subTitle" idx="7"/>
          </p:nvPr>
        </p:nvSpPr>
        <p:spPr>
          <a:xfrm>
            <a:off x="3114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8"/>
          </p:nvPr>
        </p:nvSpPr>
        <p:spPr>
          <a:xfrm>
            <a:off x="3114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subTitle" idx="9"/>
          </p:nvPr>
        </p:nvSpPr>
        <p:spPr>
          <a:xfrm>
            <a:off x="3114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subTitle" idx="13"/>
          </p:nvPr>
        </p:nvSpPr>
        <p:spPr>
          <a:xfrm>
            <a:off x="3114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ubTitle" idx="14"/>
          </p:nvPr>
        </p:nvSpPr>
        <p:spPr>
          <a:xfrm>
            <a:off x="5220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9" name="Google Shape;219;p39"/>
          <p:cNvSpPr txBox="1">
            <a:spLocks noGrp="1"/>
          </p:cNvSpPr>
          <p:nvPr>
            <p:ph type="subTitle" idx="15"/>
          </p:nvPr>
        </p:nvSpPr>
        <p:spPr>
          <a:xfrm>
            <a:off x="5220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0" name="Google Shape;220;p39"/>
          <p:cNvSpPr txBox="1">
            <a:spLocks noGrp="1"/>
          </p:cNvSpPr>
          <p:nvPr>
            <p:ph type="subTitle" idx="16"/>
          </p:nvPr>
        </p:nvSpPr>
        <p:spPr>
          <a:xfrm>
            <a:off x="5220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1" name="Google Shape;221;p39"/>
          <p:cNvSpPr txBox="1">
            <a:spLocks noGrp="1"/>
          </p:cNvSpPr>
          <p:nvPr>
            <p:ph type="subTitle" idx="17"/>
          </p:nvPr>
        </p:nvSpPr>
        <p:spPr>
          <a:xfrm>
            <a:off x="5220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2" name="Google Shape;222;p39"/>
          <p:cNvSpPr txBox="1">
            <a:spLocks noGrp="1"/>
          </p:cNvSpPr>
          <p:nvPr>
            <p:ph type="subTitle" idx="18"/>
          </p:nvPr>
        </p:nvSpPr>
        <p:spPr>
          <a:xfrm>
            <a:off x="5220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3" name="Google Shape;223;p39"/>
          <p:cNvSpPr txBox="1">
            <a:spLocks noGrp="1"/>
          </p:cNvSpPr>
          <p:nvPr>
            <p:ph type="subTitle" idx="19"/>
          </p:nvPr>
        </p:nvSpPr>
        <p:spPr>
          <a:xfrm>
            <a:off x="7326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4" name="Google Shape;224;p39"/>
          <p:cNvSpPr txBox="1">
            <a:spLocks noGrp="1"/>
          </p:cNvSpPr>
          <p:nvPr>
            <p:ph type="subTitle" idx="20"/>
          </p:nvPr>
        </p:nvSpPr>
        <p:spPr>
          <a:xfrm>
            <a:off x="7326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5" name="Google Shape;225;p39"/>
          <p:cNvSpPr txBox="1">
            <a:spLocks noGrp="1"/>
          </p:cNvSpPr>
          <p:nvPr>
            <p:ph type="subTitle" idx="21"/>
          </p:nvPr>
        </p:nvSpPr>
        <p:spPr>
          <a:xfrm>
            <a:off x="7326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6" name="Google Shape;226;p39"/>
          <p:cNvSpPr txBox="1">
            <a:spLocks noGrp="1"/>
          </p:cNvSpPr>
          <p:nvPr>
            <p:ph type="subTitle" idx="22"/>
          </p:nvPr>
        </p:nvSpPr>
        <p:spPr>
          <a:xfrm>
            <a:off x="7326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7" name="Google Shape;227;p39"/>
          <p:cNvSpPr txBox="1">
            <a:spLocks noGrp="1"/>
          </p:cNvSpPr>
          <p:nvPr>
            <p:ph type="subTitle" idx="23"/>
          </p:nvPr>
        </p:nvSpPr>
        <p:spPr>
          <a:xfrm>
            <a:off x="7326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>
            <a:spLocks noGrp="1"/>
          </p:cNvSpPr>
          <p:nvPr>
            <p:ph type="subTitle" idx="24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 1">
  <p:cSld name="1_Title slide 5_2_1_4_1_1_1_1_1">
    <p:bg>
      <p:bgPr>
        <a:solidFill>
          <a:schemeClr val="lt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subTitle" idx="1"/>
          </p:nvPr>
        </p:nvSpPr>
        <p:spPr>
          <a:xfrm>
            <a:off x="5400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subTitle" idx="2"/>
          </p:nvPr>
        </p:nvSpPr>
        <p:spPr>
          <a:xfrm>
            <a:off x="5400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ubTitle" idx="3"/>
          </p:nvPr>
        </p:nvSpPr>
        <p:spPr>
          <a:xfrm>
            <a:off x="26460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5" name="Google Shape;235;p40"/>
          <p:cNvSpPr txBox="1">
            <a:spLocks noGrp="1"/>
          </p:cNvSpPr>
          <p:nvPr>
            <p:ph type="subTitle" idx="4"/>
          </p:nvPr>
        </p:nvSpPr>
        <p:spPr>
          <a:xfrm>
            <a:off x="47448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6" name="Google Shape;236;p40"/>
          <p:cNvSpPr txBox="1">
            <a:spLocks noGrp="1"/>
          </p:cNvSpPr>
          <p:nvPr>
            <p:ph type="subTitle" idx="5"/>
          </p:nvPr>
        </p:nvSpPr>
        <p:spPr>
          <a:xfrm>
            <a:off x="68436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7" name="Google Shape;237;p40"/>
          <p:cNvSpPr txBox="1">
            <a:spLocks noGrp="1"/>
          </p:cNvSpPr>
          <p:nvPr>
            <p:ph type="subTitle" idx="6"/>
          </p:nvPr>
        </p:nvSpPr>
        <p:spPr>
          <a:xfrm>
            <a:off x="26460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8" name="Google Shape;238;p40"/>
          <p:cNvSpPr txBox="1">
            <a:spLocks noGrp="1"/>
          </p:cNvSpPr>
          <p:nvPr>
            <p:ph type="subTitle" idx="7"/>
          </p:nvPr>
        </p:nvSpPr>
        <p:spPr>
          <a:xfrm>
            <a:off x="47448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9" name="Google Shape;239;p40"/>
          <p:cNvSpPr txBox="1">
            <a:spLocks noGrp="1"/>
          </p:cNvSpPr>
          <p:nvPr>
            <p:ph type="subTitle" idx="8"/>
          </p:nvPr>
        </p:nvSpPr>
        <p:spPr>
          <a:xfrm>
            <a:off x="68436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>
            <a:spLocks noGrp="1"/>
          </p:cNvSpPr>
          <p:nvPr>
            <p:ph type="subTitle" idx="9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 1 1">
  <p:cSld name="1_Title slide 5_2_1_4_1_1_1_1_1_1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4" name="Google Shape;244;p41"/>
          <p:cNvSpPr txBox="1">
            <a:spLocks noGrp="1"/>
          </p:cNvSpPr>
          <p:nvPr>
            <p:ph type="subTitle" idx="1"/>
          </p:nvPr>
        </p:nvSpPr>
        <p:spPr>
          <a:xfrm>
            <a:off x="540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5" name="Google Shape;245;p41"/>
          <p:cNvSpPr txBox="1">
            <a:spLocks noGrp="1"/>
          </p:cNvSpPr>
          <p:nvPr>
            <p:ph type="subTitle" idx="2"/>
          </p:nvPr>
        </p:nvSpPr>
        <p:spPr>
          <a:xfrm>
            <a:off x="540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6" name="Google Shape;246;p41"/>
          <p:cNvSpPr txBox="1">
            <a:spLocks noGrp="1"/>
          </p:cNvSpPr>
          <p:nvPr>
            <p:ph type="subTitle" idx="3"/>
          </p:nvPr>
        </p:nvSpPr>
        <p:spPr>
          <a:xfrm>
            <a:off x="540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subTitle" idx="4"/>
          </p:nvPr>
        </p:nvSpPr>
        <p:spPr>
          <a:xfrm>
            <a:off x="2646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8" name="Google Shape;248;p41"/>
          <p:cNvSpPr txBox="1">
            <a:spLocks noGrp="1"/>
          </p:cNvSpPr>
          <p:nvPr>
            <p:ph type="subTitle" idx="5"/>
          </p:nvPr>
        </p:nvSpPr>
        <p:spPr>
          <a:xfrm>
            <a:off x="2646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subTitle" idx="6"/>
          </p:nvPr>
        </p:nvSpPr>
        <p:spPr>
          <a:xfrm>
            <a:off x="2646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0" name="Google Shape;250;p41"/>
          <p:cNvSpPr txBox="1">
            <a:spLocks noGrp="1"/>
          </p:cNvSpPr>
          <p:nvPr>
            <p:ph type="subTitle" idx="7"/>
          </p:nvPr>
        </p:nvSpPr>
        <p:spPr>
          <a:xfrm>
            <a:off x="4752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1" name="Google Shape;251;p41"/>
          <p:cNvSpPr txBox="1">
            <a:spLocks noGrp="1"/>
          </p:cNvSpPr>
          <p:nvPr>
            <p:ph type="subTitle" idx="8"/>
          </p:nvPr>
        </p:nvSpPr>
        <p:spPr>
          <a:xfrm>
            <a:off x="4752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2" name="Google Shape;252;p41"/>
          <p:cNvSpPr txBox="1">
            <a:spLocks noGrp="1"/>
          </p:cNvSpPr>
          <p:nvPr>
            <p:ph type="subTitle" idx="9"/>
          </p:nvPr>
        </p:nvSpPr>
        <p:spPr>
          <a:xfrm>
            <a:off x="4752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3" name="Google Shape;253;p41"/>
          <p:cNvSpPr txBox="1">
            <a:spLocks noGrp="1"/>
          </p:cNvSpPr>
          <p:nvPr>
            <p:ph type="subTitle" idx="13"/>
          </p:nvPr>
        </p:nvSpPr>
        <p:spPr>
          <a:xfrm>
            <a:off x="6858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4" name="Google Shape;254;p41"/>
          <p:cNvSpPr txBox="1">
            <a:spLocks noGrp="1"/>
          </p:cNvSpPr>
          <p:nvPr>
            <p:ph type="subTitle" idx="14"/>
          </p:nvPr>
        </p:nvSpPr>
        <p:spPr>
          <a:xfrm>
            <a:off x="6858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5" name="Google Shape;255;p41"/>
          <p:cNvSpPr txBox="1">
            <a:spLocks noGrp="1"/>
          </p:cNvSpPr>
          <p:nvPr>
            <p:ph type="subTitle" idx="15"/>
          </p:nvPr>
        </p:nvSpPr>
        <p:spPr>
          <a:xfrm>
            <a:off x="6858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10">
  <p:cSld name="1_Title slide 5_2_1_11">
    <p:bg>
      <p:bgPr>
        <a:solidFill>
          <a:schemeClr val="l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9">
  <p:cSld name="1_Title slide 5_2_1_10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  <p:sldLayoutId id="2147483672" r:id="rId10"/>
    <p:sldLayoutId id="2147483674" r:id="rId11"/>
    <p:sldLayoutId id="2147483675" r:id="rId12"/>
    <p:sldLayoutId id="2147483676" r:id="rId13"/>
    <p:sldLayoutId id="2147483678" r:id="rId14"/>
    <p:sldLayoutId id="2147483679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468000" y="1635646"/>
            <a:ext cx="6840000" cy="3035518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r>
              <a:rPr lang="ru-RU" dirty="0" smtClean="0"/>
              <a:t>Использование </a:t>
            </a:r>
            <a:br>
              <a:rPr lang="ru-RU" dirty="0" smtClean="0"/>
            </a:br>
            <a:r>
              <a:rPr lang="ru-RU" dirty="0" smtClean="0"/>
              <a:t>продвинутых инструментов </a:t>
            </a:r>
            <a:r>
              <a:rPr lang="en-US" dirty="0" smtClean="0"/>
              <a:t>SQL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825" y="352675"/>
            <a:ext cx="3325527" cy="28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>
            <a:spLocks noGrp="1"/>
          </p:cNvSpPr>
          <p:nvPr>
            <p:ph type="subTitle" idx="1"/>
          </p:nvPr>
        </p:nvSpPr>
        <p:spPr>
          <a:xfrm>
            <a:off x="540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Повторение</a:t>
            </a:r>
            <a:endParaRPr dirty="0"/>
          </a:p>
        </p:txBody>
      </p:sp>
      <p:sp>
        <p:nvSpPr>
          <p:cNvPr id="303" name="Google Shape;303;p48"/>
          <p:cNvSpPr/>
          <p:nvPr/>
        </p:nvSpPr>
        <p:spPr>
          <a:xfrm>
            <a:off x="539975" y="1440001"/>
            <a:ext cx="351600" cy="3516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1"/>
                </a:solidFill>
              </a:rPr>
              <a:t>1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04" name="Google Shape;304;p48"/>
          <p:cNvSpPr/>
          <p:nvPr/>
        </p:nvSpPr>
        <p:spPr>
          <a:xfrm>
            <a:off x="2645991" y="1439997"/>
            <a:ext cx="351600" cy="351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1"/>
                </a:solidFill>
              </a:rPr>
              <a:t>2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05" name="Google Shape;305;p48"/>
          <p:cNvSpPr/>
          <p:nvPr/>
        </p:nvSpPr>
        <p:spPr>
          <a:xfrm>
            <a:off x="4747816" y="1443142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3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06" name="Google Shape;306;p48"/>
          <p:cNvCxnSpPr>
            <a:stCxn id="303" idx="6"/>
            <a:endCxn id="304" idx="2"/>
          </p:cNvCxnSpPr>
          <p:nvPr/>
        </p:nvCxnSpPr>
        <p:spPr>
          <a:xfrm>
            <a:off x="891575" y="1615801"/>
            <a:ext cx="175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48"/>
          <p:cNvCxnSpPr>
            <a:stCxn id="304" idx="6"/>
            <a:endCxn id="305" idx="2"/>
          </p:cNvCxnSpPr>
          <p:nvPr/>
        </p:nvCxnSpPr>
        <p:spPr>
          <a:xfrm>
            <a:off x="2997591" y="1615797"/>
            <a:ext cx="1750200" cy="30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48"/>
          <p:cNvCxnSpPr>
            <a:stCxn id="305" idx="6"/>
            <a:endCxn id="309" idx="2"/>
          </p:cNvCxnSpPr>
          <p:nvPr/>
        </p:nvCxnSpPr>
        <p:spPr>
          <a:xfrm>
            <a:off x="5099416" y="1618942"/>
            <a:ext cx="175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48"/>
          <p:cNvSpPr/>
          <p:nvPr/>
        </p:nvSpPr>
        <p:spPr>
          <a:xfrm>
            <a:off x="6849641" y="1443142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4</a:t>
            </a:r>
            <a:endParaRPr sz="1000" b="1">
              <a:solidFill>
                <a:schemeClr val="lt2"/>
              </a:solidFill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539966" y="2518880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5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11" name="Google Shape;311;p48"/>
          <p:cNvCxnSpPr>
            <a:stCxn id="310" idx="6"/>
            <a:endCxn id="312" idx="2"/>
          </p:cNvCxnSpPr>
          <p:nvPr/>
        </p:nvCxnSpPr>
        <p:spPr>
          <a:xfrm>
            <a:off x="891566" y="2694680"/>
            <a:ext cx="175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48"/>
          <p:cNvSpPr/>
          <p:nvPr/>
        </p:nvSpPr>
        <p:spPr>
          <a:xfrm>
            <a:off x="2641791" y="2518880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6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13" name="Google Shape;313;p48"/>
          <p:cNvCxnSpPr>
            <a:stCxn id="309" idx="6"/>
          </p:cNvCxnSpPr>
          <p:nvPr/>
        </p:nvCxnSpPr>
        <p:spPr>
          <a:xfrm>
            <a:off x="7201241" y="1618942"/>
            <a:ext cx="1974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48"/>
          <p:cNvCxnSpPr>
            <a:endCxn id="310" idx="2"/>
          </p:cNvCxnSpPr>
          <p:nvPr/>
        </p:nvCxnSpPr>
        <p:spPr>
          <a:xfrm>
            <a:off x="-34" y="2694680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48"/>
          <p:cNvSpPr txBox="1">
            <a:spLocks noGrp="1"/>
          </p:cNvSpPr>
          <p:nvPr>
            <p:ph type="subTitle" idx="2"/>
          </p:nvPr>
        </p:nvSpPr>
        <p:spPr>
          <a:xfrm>
            <a:off x="540000" y="2876400"/>
            <a:ext cx="1746000" cy="49241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Анализ исполнения запросов</a:t>
            </a:r>
            <a:endParaRPr lang="ru-RU" dirty="0"/>
          </a:p>
        </p:txBody>
      </p:sp>
      <p:sp>
        <p:nvSpPr>
          <p:cNvPr id="326" name="Google Shape;326;p48"/>
          <p:cNvSpPr txBox="1">
            <a:spLocks noGrp="1"/>
          </p:cNvSpPr>
          <p:nvPr>
            <p:ph type="subTitle" idx="4"/>
          </p:nvPr>
        </p:nvSpPr>
        <p:spPr>
          <a:xfrm>
            <a:off x="2646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Рекурсивные функции </a:t>
            </a:r>
            <a:endParaRPr dirty="0"/>
          </a:p>
        </p:txBody>
      </p:sp>
      <p:sp>
        <p:nvSpPr>
          <p:cNvPr id="327" name="Google Shape;327;p48"/>
          <p:cNvSpPr txBox="1">
            <a:spLocks noGrp="1"/>
          </p:cNvSpPr>
          <p:nvPr>
            <p:ph type="subTitle" idx="5"/>
          </p:nvPr>
        </p:nvSpPr>
        <p:spPr>
          <a:xfrm>
            <a:off x="2646000" y="2876400"/>
            <a:ext cx="1746000" cy="49241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Выгрузка БД и таблиц на гит и загрузка</a:t>
            </a:r>
            <a:endParaRPr lang="ru-RU" dirty="0"/>
          </a:p>
        </p:txBody>
      </p:sp>
      <p:sp>
        <p:nvSpPr>
          <p:cNvPr id="329" name="Google Shape;329;p48"/>
          <p:cNvSpPr txBox="1">
            <a:spLocks noGrp="1"/>
          </p:cNvSpPr>
          <p:nvPr>
            <p:ph type="subTitle" idx="7"/>
          </p:nvPr>
        </p:nvSpPr>
        <p:spPr>
          <a:xfrm>
            <a:off x="4752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Работа с представлениями</a:t>
            </a:r>
            <a:endParaRPr dirty="0"/>
          </a:p>
        </p:txBody>
      </p:sp>
      <p:sp>
        <p:nvSpPr>
          <p:cNvPr id="331" name="Google Shape;331;p48"/>
          <p:cNvSpPr txBox="1">
            <a:spLocks noGrp="1"/>
          </p:cNvSpPr>
          <p:nvPr>
            <p:ph type="subTitle" idx="13"/>
          </p:nvPr>
        </p:nvSpPr>
        <p:spPr>
          <a:xfrm>
            <a:off x="6858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Работа с индексами</a:t>
            </a:r>
            <a:endParaRPr lang="ru-RU" dirty="0"/>
          </a:p>
        </p:txBody>
      </p:sp>
      <p:cxnSp>
        <p:nvCxnSpPr>
          <p:cNvPr id="333" name="Google Shape;333;p48"/>
          <p:cNvCxnSpPr>
            <a:endCxn id="303" idx="2"/>
          </p:cNvCxnSpPr>
          <p:nvPr/>
        </p:nvCxnSpPr>
        <p:spPr>
          <a:xfrm>
            <a:off x="-25" y="1615801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48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/>
              <a:t>О чем поговорим</a:t>
            </a:r>
            <a:endParaRPr dirty="0"/>
          </a:p>
        </p:txBody>
      </p:sp>
      <p:sp>
        <p:nvSpPr>
          <p:cNvPr id="335" name="Google Shape;335;p48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/>
              <a:t>Инженер данных. Профессия</a:t>
            </a:r>
            <a:endParaRPr dirty="0"/>
          </a:p>
        </p:txBody>
      </p:sp>
      <p:pic>
        <p:nvPicPr>
          <p:cNvPr id="43" name="Google Shape;3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36096" y="2427734"/>
            <a:ext cx="2033031" cy="2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Прямоугольник 23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latin typeface="IBM Plex Sans"/>
                <a:sym typeface="IBM Plex Sans"/>
              </a:rPr>
              <a:t>Повторение</a:t>
            </a:r>
            <a:endParaRPr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Самостоятельное выполнение заданий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dirty="0" smtClean="0"/>
              <a:t>Задания 3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3891584" cy="2123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R="76200" lvl="0">
              <a:lnSpc>
                <a:spcPct val="114500"/>
              </a:lnSpc>
              <a:buClr>
                <a:schemeClr val="dk1"/>
              </a:buClr>
            </a:pPr>
            <a:r>
              <a:rPr lang="en-US" dirty="0" smtClean="0"/>
              <a:t>https://disk.yandex.lt/i/tAmZhQ1VyCUr1Q</a:t>
            </a:r>
            <a:endParaRPr lang="en-US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Рекурсивные функции </a:t>
            </a:r>
            <a:endParaRPr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Повторение (практика)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39703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/>
              <a:t>Все числа от</a:t>
            </a:r>
            <a:r>
              <a:rPr lang="en-US" dirty="0" smtClean="0"/>
              <a:t> 1 </a:t>
            </a:r>
            <a:r>
              <a:rPr lang="ru-RU" dirty="0" smtClean="0"/>
              <a:t>до</a:t>
            </a:r>
            <a:r>
              <a:rPr lang="en-US" dirty="0" smtClean="0"/>
              <a:t> 5</a:t>
            </a:r>
            <a:endParaRPr lang="ru-RU" dirty="0" smtClean="0"/>
          </a:p>
          <a:p>
            <a:pPr marR="76200">
              <a:lnSpc>
                <a:spcPct val="114500"/>
              </a:lnSpc>
              <a:buClr>
                <a:schemeClr val="dk1"/>
              </a:buClr>
              <a:buFont typeface="Arial" pitchFamily="34" charset="0"/>
              <a:buChar char="•"/>
            </a:pPr>
            <a:r>
              <a:rPr lang="ru-RU" dirty="0" smtClean="0"/>
              <a:t>Последовательность </a:t>
            </a:r>
            <a:r>
              <a:rPr lang="ru-RU" dirty="0" smtClean="0"/>
              <a:t>Фибоначчи</a:t>
            </a:r>
            <a:r>
              <a:rPr lang="en-US" dirty="0" smtClean="0"/>
              <a:t>.</a:t>
            </a:r>
            <a:endParaRPr lang="ru-RU" dirty="0" smtClean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dirty="0" smtClean="0"/>
              <a:t>Поиск менеджера сотрудника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9" name="Picture 3" descr="C:\Users\магазин\Downloads\Скриншот-23-10-2023 11_10_1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1203598"/>
            <a:ext cx="6315621" cy="1435061"/>
          </a:xfrm>
          <a:prstGeom prst="rect">
            <a:avLst/>
          </a:prstGeom>
          <a:noFill/>
        </p:spPr>
      </p:pic>
      <p:pic>
        <p:nvPicPr>
          <p:cNvPr id="10" name="Рисунок 9" descr="C:\Users\магазин\Downloads\7rgUfJhT.jp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544" y="2715766"/>
            <a:ext cx="5936615" cy="218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dirty="0" smtClean="0"/>
              <a:t>Поиск менеджера сотрудника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 descr="C:\Users\магазин\Downloads\Скриншот-23-10-2023 11_13_3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1275606"/>
            <a:ext cx="7146379" cy="2222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dirty="0" smtClean="0"/>
              <a:t>Поиск менеджера сотрудника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146" name="Picture 2" descr="C:\Users\магазин\Downloads\J0PqZwuq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552" y="1131590"/>
            <a:ext cx="3997774" cy="3271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Работа с представлениями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Виртуальные </a:t>
            </a:r>
            <a:r>
              <a:rPr lang="ru-RU" dirty="0" smtClean="0"/>
              <a:t>таблицы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Синтаксис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170" name="Picture 2" descr="C:\Users\магазин\Downloads\Скриншот-23-10-2023 12_19_1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1491630"/>
            <a:ext cx="8029575" cy="609600"/>
          </a:xfrm>
          <a:prstGeom prst="rect">
            <a:avLst/>
          </a:prstGeom>
          <a:noFill/>
        </p:spPr>
      </p:pic>
      <p:sp>
        <p:nvSpPr>
          <p:cNvPr id="10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228371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Изменение</a:t>
            </a:r>
            <a:endParaRPr lang="ru-RU" dirty="0"/>
          </a:p>
        </p:txBody>
      </p:sp>
      <p:pic>
        <p:nvPicPr>
          <p:cNvPr id="7171" name="Picture 3" descr="C:\Users\магазин\Downloads\1QZ0E9Ws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544" y="2643758"/>
            <a:ext cx="9144000" cy="612111"/>
          </a:xfrm>
          <a:prstGeom prst="rect">
            <a:avLst/>
          </a:prstGeom>
          <a:noFill/>
        </p:spPr>
      </p:pic>
      <p:pic>
        <p:nvPicPr>
          <p:cNvPr id="7172" name="Picture 4" descr="C:\Users\магазин\Downloads\Скриншот-23-10-2023 12_25_44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7544" y="3795886"/>
            <a:ext cx="4429125" cy="361950"/>
          </a:xfrm>
          <a:prstGeom prst="rect">
            <a:avLst/>
          </a:prstGeom>
          <a:noFill/>
        </p:spPr>
      </p:pic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Создание</a:t>
            </a:r>
            <a:endParaRPr lang="ru-RU" dirty="0"/>
          </a:p>
        </p:txBody>
      </p:sp>
      <p:sp>
        <p:nvSpPr>
          <p:cNvPr id="1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3435846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Удаление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Работа с индексами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Ускорение работы запросов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Зачем?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300379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Простой запрос (4 с.)                                                                                                    После индексации  (0,4 мс.)</a:t>
            </a:r>
            <a:endParaRPr lang="ru-RU" dirty="0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Создание (12 000 000 позиций)</a:t>
            </a:r>
            <a:endParaRPr lang="ru-RU" dirty="0"/>
          </a:p>
        </p:txBody>
      </p:sp>
      <p:pic>
        <p:nvPicPr>
          <p:cNvPr id="8194" name="Picture 2" descr="C:\Users\магазин\Downloads\Скриншот-23-10-2023 12_30_44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1491630"/>
            <a:ext cx="6286500" cy="1381125"/>
          </a:xfrm>
          <a:prstGeom prst="rect">
            <a:avLst/>
          </a:prstGeom>
          <a:noFill/>
        </p:spPr>
      </p:pic>
      <p:pic>
        <p:nvPicPr>
          <p:cNvPr id="8195" name="Picture 3" descr="C:\Users\магазин\Downloads\Скриншот-23-10-2023 12_32_54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5951" y="3363838"/>
            <a:ext cx="4010025" cy="1362075"/>
          </a:xfrm>
          <a:prstGeom prst="rect">
            <a:avLst/>
          </a:prstGeom>
          <a:noFill/>
        </p:spPr>
      </p:pic>
      <p:pic>
        <p:nvPicPr>
          <p:cNvPr id="8197" name="Picture 5" descr="C:\Users\магазин\Downloads\Скриншот-23-10-2023 12_42_05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4008" y="3435846"/>
            <a:ext cx="4171950" cy="847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Синтаксис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Запрос</a:t>
            </a:r>
            <a:endParaRPr lang="ru-RU" dirty="0"/>
          </a:p>
        </p:txBody>
      </p:sp>
      <p:pic>
        <p:nvPicPr>
          <p:cNvPr id="11" name="Picture 4" descr="C:\Users\магазин\Downloads\Скриншот-23-10-2023 12_39_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528" y="1563638"/>
            <a:ext cx="5200650" cy="1409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Суть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Планы выполнения</a:t>
            </a:r>
            <a:endParaRPr lang="ru-RU" dirty="0"/>
          </a:p>
        </p:txBody>
      </p:sp>
      <p:sp>
        <p:nvSpPr>
          <p:cNvPr id="7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437195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БД анализирует все возможные пути выполнения запроса, выбирая самый оптимальный из них.</a:t>
            </a:r>
            <a:endParaRPr lang="ru-RU" dirty="0"/>
          </a:p>
        </p:txBody>
      </p:sp>
      <p:pic>
        <p:nvPicPr>
          <p:cNvPr id="9218" name="Picture 2" descr="C:\Users\магазин\Downloads\Скриншот-23-10-2023 12_43_4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5157" y="1635646"/>
            <a:ext cx="6315075" cy="2419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Анализ исполнения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запросов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Планы запросов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Зачем?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b="1" dirty="0" smtClean="0"/>
              <a:t>Для </a:t>
            </a:r>
            <a:r>
              <a:rPr lang="ru-RU" b="1" dirty="0" smtClean="0"/>
              <a:t>ускорения работы запроса нужно «изучить план».</a:t>
            </a:r>
            <a:endParaRPr lang="ru-RU" dirty="0"/>
          </a:p>
        </p:txBody>
      </p:sp>
      <p:pic>
        <p:nvPicPr>
          <p:cNvPr id="13" name="Рисунок 12" descr="C:\Users\магазин\Downloads\3Ztp2.p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35646"/>
            <a:ext cx="3235325" cy="1807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</a:t>
            </a:r>
            <a:r>
              <a:rPr lang="ru-RU" b="1" dirty="0" smtClean="0"/>
              <a:t>лан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 Операторы в плане вызываются по порядку слева направо (с левого верхнего угла), а данные в плане перемещаются справа налево. Сейчас подробно разберём, как это работает.</a:t>
            </a:r>
            <a:endParaRPr lang="ru-RU" dirty="0"/>
          </a:p>
        </p:txBody>
      </p:sp>
      <p:pic>
        <p:nvPicPr>
          <p:cNvPr id="11266" name="Picture 2" descr="C:\Users\магазин\Downloads\Скриншот-23-10-2023 12_51_5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20" y="1635646"/>
            <a:ext cx="8604448" cy="2199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</a:t>
            </a:r>
            <a:r>
              <a:rPr lang="ru-RU" b="1" dirty="0" smtClean="0"/>
              <a:t>лан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r>
              <a:rPr lang="ru-RU" dirty="0" smtClean="0"/>
              <a:t>Например, </a:t>
            </a:r>
            <a:r>
              <a:rPr lang="ru-RU" dirty="0" err="1" smtClean="0"/>
              <a:t>Index</a:t>
            </a:r>
            <a:r>
              <a:rPr lang="ru-RU" dirty="0" smtClean="0"/>
              <a:t> </a:t>
            </a:r>
            <a:r>
              <a:rPr lang="ru-RU" dirty="0" err="1" smtClean="0"/>
              <a:t>Scan</a:t>
            </a:r>
            <a:r>
              <a:rPr lang="ru-RU" dirty="0" smtClean="0"/>
              <a:t> отдал строку оператору </a:t>
            </a:r>
            <a:r>
              <a:rPr lang="ru-RU" dirty="0" err="1" smtClean="0"/>
              <a:t>Sort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Потом </a:t>
            </a:r>
            <a:r>
              <a:rPr lang="ru-RU" dirty="0" err="1" smtClean="0"/>
              <a:t>Nested</a:t>
            </a:r>
            <a:r>
              <a:rPr lang="ru-RU" dirty="0" smtClean="0"/>
              <a:t> </a:t>
            </a:r>
            <a:r>
              <a:rPr lang="ru-RU" dirty="0" err="1" smtClean="0"/>
              <a:t>Loops</a:t>
            </a:r>
            <a:r>
              <a:rPr lang="ru-RU" dirty="0" smtClean="0"/>
              <a:t> спрашивает у оператора </a:t>
            </a:r>
            <a:r>
              <a:rPr lang="ru-RU" dirty="0" err="1" smtClean="0"/>
              <a:t>Sort</a:t>
            </a:r>
            <a:r>
              <a:rPr lang="ru-RU" dirty="0" smtClean="0"/>
              <a:t>: «Дай строку» – тот ему строку отдал.</a:t>
            </a:r>
          </a:p>
          <a:p>
            <a:r>
              <a:rPr lang="ru-RU" dirty="0" smtClean="0"/>
              <a:t>Потом уже у </a:t>
            </a:r>
            <a:r>
              <a:rPr lang="ru-RU" dirty="0" err="1" smtClean="0"/>
              <a:t>Nested</a:t>
            </a:r>
            <a:r>
              <a:rPr lang="ru-RU" dirty="0" smtClean="0"/>
              <a:t> </a:t>
            </a:r>
            <a:r>
              <a:rPr lang="ru-RU" dirty="0" err="1" smtClean="0"/>
              <a:t>Loops</a:t>
            </a:r>
            <a:r>
              <a:rPr lang="ru-RU" dirty="0" smtClean="0"/>
              <a:t> спрашивают: «Дай строку». Тот говорит, что не может, так как у него в этом плане есть еще одно поддерево, нужно его сначала выполнить, соединить результаты выполнения. Только после этого он сможет отдать строку.</a:t>
            </a:r>
            <a:endParaRPr lang="ru-RU" dirty="0"/>
          </a:p>
        </p:txBody>
      </p:sp>
      <p:pic>
        <p:nvPicPr>
          <p:cNvPr id="12290" name="Picture 2" descr="C:\Users\магазин\Downloads\Скриншот-23-10-2023 12_53_1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20" y="1779662"/>
            <a:ext cx="8676456" cy="24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</a:t>
            </a:r>
            <a:r>
              <a:rPr lang="ru-RU" b="1" dirty="0" smtClean="0"/>
              <a:t>лан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r>
              <a:rPr lang="ru-RU" dirty="0" smtClean="0"/>
              <a:t>Каждый блок на слайде – это оператор, который что-то умеет.</a:t>
            </a:r>
          </a:p>
          <a:p>
            <a:r>
              <a:rPr lang="ru-RU" dirty="0" smtClean="0"/>
              <a:t>У каждого оператора есть несколько методов, но самый главный из них – </a:t>
            </a:r>
            <a:r>
              <a:rPr lang="ru-RU" dirty="0" err="1" smtClean="0"/>
              <a:t>Next</a:t>
            </a:r>
            <a:r>
              <a:rPr lang="ru-RU" dirty="0" smtClean="0"/>
              <a:t>(), который возвращает одну строку.</a:t>
            </a:r>
          </a:p>
          <a:p>
            <a:r>
              <a:rPr lang="ru-RU" dirty="0" smtClean="0"/>
              <a:t>Следующий оператор его спрашивает: «Дай строку» и тот отдает. Если надо еще, то снова: «Дай строку» и т.д. И так по одной строке любой оператор выдает вот эти строки.</a:t>
            </a:r>
            <a:endParaRPr lang="ru-RU" dirty="0"/>
          </a:p>
        </p:txBody>
      </p:sp>
      <p:pic>
        <p:nvPicPr>
          <p:cNvPr id="13314" name="Picture 2" descr="C:\Users\магазин\Downloads\IdS2VnC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528" y="2067694"/>
            <a:ext cx="8532440" cy="20714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</a:t>
            </a:r>
            <a:r>
              <a:rPr lang="ru-RU" b="1" dirty="0" smtClean="0"/>
              <a:t>лан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r>
              <a:rPr lang="ru-RU" dirty="0" smtClean="0"/>
              <a:t>И в этом поддереве повторяется то же самое: по цепочке с правого угла эти строки выдаются.</a:t>
            </a:r>
          </a:p>
          <a:p>
            <a:r>
              <a:rPr lang="ru-RU" dirty="0" smtClean="0"/>
              <a:t>И после того, как мы получили все строки в </a:t>
            </a:r>
            <a:r>
              <a:rPr lang="ru-RU" dirty="0" err="1" smtClean="0"/>
              <a:t>Nested</a:t>
            </a:r>
            <a:r>
              <a:rPr lang="ru-RU" dirty="0" smtClean="0"/>
              <a:t> </a:t>
            </a:r>
            <a:r>
              <a:rPr lang="ru-RU" dirty="0" err="1" smtClean="0"/>
              <a:t>Loops</a:t>
            </a:r>
            <a:r>
              <a:rPr lang="ru-RU" dirty="0" smtClean="0"/>
              <a:t>, передаем из дальше в </a:t>
            </a:r>
            <a:r>
              <a:rPr lang="ru-RU" dirty="0" err="1" smtClean="0"/>
              <a:t>Top</a:t>
            </a:r>
            <a:r>
              <a:rPr lang="ru-RU" dirty="0" smtClean="0"/>
              <a:t> и выполняем.</a:t>
            </a:r>
            <a:endParaRPr lang="ru-RU" dirty="0"/>
          </a:p>
        </p:txBody>
      </p:sp>
      <p:pic>
        <p:nvPicPr>
          <p:cNvPr id="14338" name="Picture 2" descr="C:\Users\магазин\Downloads\Скриншот-23-10-2023 13_04_5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1563638"/>
            <a:ext cx="8532440" cy="22613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</a:t>
            </a:r>
            <a:r>
              <a:rPr lang="ru-RU" b="1" dirty="0" smtClean="0"/>
              <a:t>лан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467544" y="1203638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r>
              <a:rPr lang="ru-RU" dirty="0" smtClean="0"/>
              <a:t>И в этом поддереве повторяется то же самое: по цепочке с правого угла эти строки выдаются.</a:t>
            </a:r>
          </a:p>
          <a:p>
            <a:r>
              <a:rPr lang="ru-RU" dirty="0" smtClean="0"/>
              <a:t>И после того, как мы получили все строки в </a:t>
            </a:r>
            <a:r>
              <a:rPr lang="ru-RU" dirty="0" err="1" smtClean="0"/>
              <a:t>Nested</a:t>
            </a:r>
            <a:r>
              <a:rPr lang="ru-RU" dirty="0" smtClean="0"/>
              <a:t> </a:t>
            </a:r>
            <a:r>
              <a:rPr lang="ru-RU" dirty="0" err="1" smtClean="0"/>
              <a:t>Loops</a:t>
            </a:r>
            <a:r>
              <a:rPr lang="ru-RU" dirty="0" smtClean="0"/>
              <a:t>, передаем из дальше в </a:t>
            </a:r>
            <a:r>
              <a:rPr lang="ru-RU" dirty="0" err="1" smtClean="0"/>
              <a:t>Top</a:t>
            </a:r>
            <a:r>
              <a:rPr lang="ru-RU" dirty="0" smtClean="0"/>
              <a:t> и выполняем.</a:t>
            </a:r>
            <a:endParaRPr lang="ru-RU" dirty="0"/>
          </a:p>
        </p:txBody>
      </p:sp>
      <p:pic>
        <p:nvPicPr>
          <p:cNvPr id="15362" name="Picture 2" descr="C:\Users\магазин\Downloads\d6bbf039d3fbbc46be5d60b5d142de7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1203598"/>
            <a:ext cx="7092280" cy="34907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67944" y="1563638"/>
            <a:ext cx="1435603" cy="17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Макет шаблона GB">
  <a:themeElements>
    <a:clrScheme name="Simple Light">
      <a:dk1>
        <a:srgbClr val="000000"/>
      </a:dk1>
      <a:lt1>
        <a:srgbClr val="FFFFFF"/>
      </a:lt1>
      <a:dk2>
        <a:srgbClr val="8F93A3"/>
      </a:dk2>
      <a:lt2>
        <a:srgbClr val="B7B9C8"/>
      </a:lt2>
      <a:accent1>
        <a:srgbClr val="6654D9"/>
      </a:accent1>
      <a:accent2>
        <a:srgbClr val="F65121"/>
      </a:accent2>
      <a:accent3>
        <a:srgbClr val="E0FF23"/>
      </a:accent3>
      <a:accent4>
        <a:srgbClr val="F458E3"/>
      </a:accent4>
      <a:accent5>
        <a:srgbClr val="1BAFAF"/>
      </a:accent5>
      <a:accent6>
        <a:srgbClr val="FFDB00"/>
      </a:accent6>
      <a:hlink>
        <a:srgbClr val="6654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462</Words>
  <Application>Microsoft Office PowerPoint</Application>
  <PresentationFormat>Экран (16:9)</PresentationFormat>
  <Paragraphs>81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IBM Plex Sans SemiBold</vt:lpstr>
      <vt:lpstr>IBM Plex Sans</vt:lpstr>
      <vt:lpstr>Roboto</vt:lpstr>
      <vt:lpstr>Simple Light</vt:lpstr>
      <vt:lpstr>Макет шаблона GB</vt:lpstr>
      <vt:lpstr>Использование  продвинутых инструментов SQL </vt:lpstr>
      <vt:lpstr>О чем поговорим</vt:lpstr>
      <vt:lpstr>Повторение</vt:lpstr>
      <vt:lpstr>Задания 3</vt:lpstr>
      <vt:lpstr>Рекурсивные функции </vt:lpstr>
      <vt:lpstr>Задание</vt:lpstr>
      <vt:lpstr>Поиск менеджера сотрудника</vt:lpstr>
      <vt:lpstr>Поиск менеджера сотрудника</vt:lpstr>
      <vt:lpstr>Поиск менеджера сотрудника</vt:lpstr>
      <vt:lpstr>Работа с представлениями</vt:lpstr>
      <vt:lpstr>Синтаксис</vt:lpstr>
      <vt:lpstr>Работа с индексами</vt:lpstr>
      <vt:lpstr>Зачем?</vt:lpstr>
      <vt:lpstr>Синтаксис</vt:lpstr>
      <vt:lpstr>Суть</vt:lpstr>
      <vt:lpstr>Анализ исполнения  запросов</vt:lpstr>
      <vt:lpstr>Зачем?</vt:lpstr>
      <vt:lpstr>План</vt:lpstr>
      <vt:lpstr>План</vt:lpstr>
      <vt:lpstr>План</vt:lpstr>
      <vt:lpstr>План</vt:lpstr>
      <vt:lpstr>План</vt:lpstr>
      <vt:lpstr>Слайд 23</vt:lpstr>
      <vt:lpstr>Слайд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Дизайнер. Профессия </dc:title>
  <cp:lastModifiedBy>магазин</cp:lastModifiedBy>
  <cp:revision>99</cp:revision>
  <dcterms:modified xsi:type="dcterms:W3CDTF">2023-10-23T13:10:56Z</dcterms:modified>
</cp:coreProperties>
</file>