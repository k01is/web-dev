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</p:sldMasterIdLst>
  <p:notesMasterIdLst>
    <p:notesMasterId r:id="rId33"/>
  </p:notesMasterIdLst>
  <p:sldIdLst>
    <p:sldId id="256" r:id="rId3"/>
    <p:sldId id="260" r:id="rId4"/>
    <p:sldId id="262" r:id="rId5"/>
    <p:sldId id="261" r:id="rId6"/>
    <p:sldId id="347" r:id="rId7"/>
    <p:sldId id="329" r:id="rId8"/>
    <p:sldId id="350" r:id="rId9"/>
    <p:sldId id="348" r:id="rId10"/>
    <p:sldId id="349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69" r:id="rId20"/>
    <p:sldId id="351" r:id="rId21"/>
    <p:sldId id="352" r:id="rId22"/>
    <p:sldId id="353" r:id="rId23"/>
    <p:sldId id="354" r:id="rId24"/>
    <p:sldId id="356" r:id="rId25"/>
    <p:sldId id="358" r:id="rId26"/>
    <p:sldId id="370" r:id="rId27"/>
    <p:sldId id="360" r:id="rId28"/>
    <p:sldId id="357" r:id="rId29"/>
    <p:sldId id="359" r:id="rId30"/>
    <p:sldId id="318" r:id="rId31"/>
    <p:sldId id="296" r:id="rId32"/>
  </p:sldIdLst>
  <p:sldSz cx="9144000" cy="5143500" type="screen16x9"/>
  <p:notesSz cx="6858000" cy="9144000"/>
  <p:embeddedFontLst>
    <p:embeddedFont>
      <p:font typeface="IBM Plex Sans SemiBold" pitchFamily="34" charset="0"/>
      <p:bold r:id="rId34"/>
    </p:embeddedFont>
    <p:embeddedFont>
      <p:font typeface="IBM Plex Sans" pitchFamily="34" charset="0"/>
      <p:regular r:id="rId35"/>
      <p:bold r:id="rId36"/>
      <p:italic r:id="rId37"/>
      <p:boldItalic r:id="rId38"/>
    </p:embeddedFont>
    <p:embeddedFont>
      <p:font typeface="Roboto" pitchFamily="2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71" autoAdjust="0"/>
    <p:restoredTop sz="94660"/>
  </p:normalViewPr>
  <p:slideViewPr>
    <p:cSldViewPr>
      <p:cViewPr>
        <p:scale>
          <a:sx n="100" d="100"/>
          <a:sy n="100" d="100"/>
        </p:scale>
        <p:origin x="-188" y="1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d54964b37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d54964b37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Выбери любой подходящий макет с названием “Титульник”.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e5d497594f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e5d497594f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Стандартный слайд. Не меняем его, меняем текст в нем.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23292ca0de_0_6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23292ca0de_0_6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e5d497594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e5d497594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23292ca0de_0_2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23292ca0de_0_2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23292ca0de_0_18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23292ca0de_0_18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Стандартный слайд. Не меняем его совсем. Но всегда используем в конце презентации.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Титульник">
  <p:cSld name="TITLE_1_4"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19904" y="0"/>
            <a:ext cx="4724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Титульник">
  <p:cSld name="TITLE_1_2">
    <p:bg>
      <p:bgPr>
        <a:solidFill>
          <a:schemeClr val="dk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72100" y="1687275"/>
            <a:ext cx="3590899" cy="30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70" name="Google Shape;7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Титульник">
  <p:cSld name="TITLE_1_2_1_1"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32821" y="0"/>
            <a:ext cx="761117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96224"/>
            <a:ext cx="4788650" cy="1947276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81" name="Google Shape;8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 Титульник">
  <p:cSld name="TITLE_1_2_1_1_1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9425" y="0"/>
            <a:ext cx="543457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86" name="Google Shape;8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 Титульник">
  <p:cSld name="TITLE_1_2_1_1_1_1">
    <p:bg>
      <p:bgPr>
        <a:solidFill>
          <a:schemeClr val="dk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9425" y="0"/>
            <a:ext cx="543457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91" name="Google Shape;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Пустой титульник, вставь справа иллюстрацию по теме">
  <p:cSld name="TITLE_1_2_1_1_1_1_1"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 SemiBold"/>
              <a:buNone/>
              <a:defRPr sz="36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IBM Plex Sans SemiBold"/>
              <a:buNone/>
              <a:defRPr sz="52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95" name="Google Shape;9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Отбивка">
  <p:cSld name="TITLE_1_1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949025" y="6715"/>
            <a:ext cx="420168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3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01" name="Google Shape;1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Отбивка">
  <p:cSld name="TITLE_1_1_1"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31875" y="0"/>
            <a:ext cx="5812116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5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12" name="Google Shape;1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Отбивка ">
  <p:cSld name="TITLE_1_1_1_1"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09425" y="0"/>
            <a:ext cx="5434577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6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18" name="Google Shape;11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6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Отбивка  (без графики)">
  <p:cSld name="TITLE_1_1_1_1_1"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title"/>
          </p:nvPr>
        </p:nvSpPr>
        <p:spPr>
          <a:xfrm>
            <a:off x="540000" y="1836000"/>
            <a:ext cx="8064000" cy="17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BM Plex Sans SemiBold"/>
              <a:buNone/>
              <a:defRPr sz="3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subTitle" idx="1"/>
          </p:nvPr>
        </p:nvSpPr>
        <p:spPr>
          <a:xfrm>
            <a:off x="540000" y="3633900"/>
            <a:ext cx="8064000" cy="4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23" name="Google Shape;123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71975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Пустой слайд 1">
  <p:cSld name="1_Title slide 5_2_1_5"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Заголовок + текст">
  <p:cSld name="1_Title slide 5_2_1_4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0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32" name="Google Shape;132;p30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80640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3" name="Google Shape;13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0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Заголовок + текст в два столбца">
  <p:cSld name="1_Title slide 5_2_1_4_2">
    <p:bg>
      <p:bgPr>
        <a:solidFill>
          <a:schemeClr val="l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37" name="Google Shape;137;p31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38556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8" name="Google Shape;138;p31"/>
          <p:cNvSpPr txBox="1">
            <a:spLocks noGrp="1"/>
          </p:cNvSpPr>
          <p:nvPr>
            <p:ph type="subTitle" idx="2"/>
          </p:nvPr>
        </p:nvSpPr>
        <p:spPr>
          <a:xfrm>
            <a:off x="4752000" y="1260000"/>
            <a:ext cx="3855600" cy="3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139" name="Google Shape;13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1"/>
          <p:cNvSpPr txBox="1">
            <a:spLocks noGrp="1"/>
          </p:cNvSpPr>
          <p:nvPr>
            <p:ph type="subTitle" idx="3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Что будет на уроке - 1 вариант">
  <p:cSld name="1_Title slide 5_2_1_2">
    <p:bg>
      <p:bgPr>
        <a:solidFill>
          <a:schemeClr val="lt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3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IBM Plex Sans SemiBold"/>
              <a:buNone/>
              <a:defRPr sz="26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48" name="Google Shape;148;p33"/>
          <p:cNvSpPr txBox="1">
            <a:spLocks noGrp="1"/>
          </p:cNvSpPr>
          <p:nvPr>
            <p:ph type="subTitle" idx="1"/>
          </p:nvPr>
        </p:nvSpPr>
        <p:spPr>
          <a:xfrm>
            <a:off x="536400" y="144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49" name="Google Shape;149;p33"/>
          <p:cNvSpPr txBox="1">
            <a:spLocks noGrp="1"/>
          </p:cNvSpPr>
          <p:nvPr>
            <p:ph type="body" idx="2"/>
          </p:nvPr>
        </p:nvSpPr>
        <p:spPr>
          <a:xfrm>
            <a:off x="536400" y="1738800"/>
            <a:ext cx="385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0" name="Google Shape;150;p33"/>
          <p:cNvSpPr txBox="1">
            <a:spLocks noGrp="1"/>
          </p:cNvSpPr>
          <p:nvPr>
            <p:ph type="subTitle" idx="3"/>
          </p:nvPr>
        </p:nvSpPr>
        <p:spPr>
          <a:xfrm>
            <a:off x="536400" y="261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1" name="Google Shape;151;p33"/>
          <p:cNvSpPr txBox="1">
            <a:spLocks noGrp="1"/>
          </p:cNvSpPr>
          <p:nvPr>
            <p:ph type="body" idx="4"/>
          </p:nvPr>
        </p:nvSpPr>
        <p:spPr>
          <a:xfrm>
            <a:off x="536400" y="29088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2" name="Google Shape;152;p33"/>
          <p:cNvSpPr txBox="1">
            <a:spLocks noGrp="1"/>
          </p:cNvSpPr>
          <p:nvPr>
            <p:ph type="subTitle" idx="5"/>
          </p:nvPr>
        </p:nvSpPr>
        <p:spPr>
          <a:xfrm>
            <a:off x="536400" y="37764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3" name="Google Shape;153;p33"/>
          <p:cNvSpPr txBox="1">
            <a:spLocks noGrp="1"/>
          </p:cNvSpPr>
          <p:nvPr>
            <p:ph type="body" idx="6"/>
          </p:nvPr>
        </p:nvSpPr>
        <p:spPr>
          <a:xfrm>
            <a:off x="536400" y="40752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4" name="Google Shape;154;p33"/>
          <p:cNvSpPr txBox="1">
            <a:spLocks noGrp="1"/>
          </p:cNvSpPr>
          <p:nvPr>
            <p:ph type="subTitle" idx="7"/>
          </p:nvPr>
        </p:nvSpPr>
        <p:spPr>
          <a:xfrm>
            <a:off x="4751990" y="144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5" name="Google Shape;155;p33"/>
          <p:cNvSpPr txBox="1">
            <a:spLocks noGrp="1"/>
          </p:cNvSpPr>
          <p:nvPr>
            <p:ph type="body" idx="8"/>
          </p:nvPr>
        </p:nvSpPr>
        <p:spPr>
          <a:xfrm>
            <a:off x="4752000" y="1738800"/>
            <a:ext cx="385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6" name="Google Shape;156;p33"/>
          <p:cNvSpPr txBox="1">
            <a:spLocks noGrp="1"/>
          </p:cNvSpPr>
          <p:nvPr>
            <p:ph type="subTitle" idx="9"/>
          </p:nvPr>
        </p:nvSpPr>
        <p:spPr>
          <a:xfrm>
            <a:off x="4752000" y="26100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7" name="Google Shape;157;p33"/>
          <p:cNvSpPr txBox="1">
            <a:spLocks noGrp="1"/>
          </p:cNvSpPr>
          <p:nvPr>
            <p:ph type="body" idx="13"/>
          </p:nvPr>
        </p:nvSpPr>
        <p:spPr>
          <a:xfrm>
            <a:off x="4752000" y="29088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subTitle" idx="14"/>
          </p:nvPr>
        </p:nvSpPr>
        <p:spPr>
          <a:xfrm>
            <a:off x="4752000" y="3776400"/>
            <a:ext cx="38556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9" name="Google Shape;159;p33"/>
          <p:cNvSpPr txBox="1">
            <a:spLocks noGrp="1"/>
          </p:cNvSpPr>
          <p:nvPr>
            <p:ph type="body" idx="15"/>
          </p:nvPr>
        </p:nvSpPr>
        <p:spPr>
          <a:xfrm>
            <a:off x="4752000" y="4075200"/>
            <a:ext cx="382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160" name="Google Shape;16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3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Что будет на уроке - 2 вариант ">
  <p:cSld name="1_Title slide 5_2_1_2_1"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BM Plex Sans SemiBold"/>
              <a:buNone/>
              <a:defRPr sz="24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164" name="Google Shape;164;p34"/>
          <p:cNvSpPr txBox="1">
            <a:spLocks noGrp="1"/>
          </p:cNvSpPr>
          <p:nvPr>
            <p:ph type="body" idx="1"/>
          </p:nvPr>
        </p:nvSpPr>
        <p:spPr>
          <a:xfrm>
            <a:off x="1000800" y="20016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65" name="Google Shape;165;p34"/>
          <p:cNvSpPr txBox="1">
            <a:spLocks noGrp="1"/>
          </p:cNvSpPr>
          <p:nvPr>
            <p:ph type="subTitle" idx="2"/>
          </p:nvPr>
        </p:nvSpPr>
        <p:spPr>
          <a:xfrm>
            <a:off x="536400" y="25272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body" idx="3"/>
          </p:nvPr>
        </p:nvSpPr>
        <p:spPr>
          <a:xfrm>
            <a:off x="1000800" y="30888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subTitle" idx="4"/>
          </p:nvPr>
        </p:nvSpPr>
        <p:spPr>
          <a:xfrm>
            <a:off x="536400" y="36144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68" name="Google Shape;168;p34"/>
          <p:cNvSpPr txBox="1">
            <a:spLocks noGrp="1"/>
          </p:cNvSpPr>
          <p:nvPr>
            <p:ph type="body" idx="5"/>
          </p:nvPr>
        </p:nvSpPr>
        <p:spPr>
          <a:xfrm>
            <a:off x="1000800" y="41760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69" name="Google Shape;169;p34"/>
          <p:cNvSpPr txBox="1">
            <a:spLocks noGrp="1"/>
          </p:cNvSpPr>
          <p:nvPr>
            <p:ph type="subTitle" idx="6"/>
          </p:nvPr>
        </p:nvSpPr>
        <p:spPr>
          <a:xfrm>
            <a:off x="4751990" y="14400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0" name="Google Shape;170;p34"/>
          <p:cNvSpPr txBox="1">
            <a:spLocks noGrp="1"/>
          </p:cNvSpPr>
          <p:nvPr>
            <p:ph type="body" idx="7"/>
          </p:nvPr>
        </p:nvSpPr>
        <p:spPr>
          <a:xfrm>
            <a:off x="5212800" y="20016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71" name="Google Shape;171;p34"/>
          <p:cNvSpPr txBox="1">
            <a:spLocks noGrp="1"/>
          </p:cNvSpPr>
          <p:nvPr>
            <p:ph type="subTitle" idx="8"/>
          </p:nvPr>
        </p:nvSpPr>
        <p:spPr>
          <a:xfrm>
            <a:off x="4752000" y="25272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body" idx="9"/>
          </p:nvPr>
        </p:nvSpPr>
        <p:spPr>
          <a:xfrm>
            <a:off x="5212800" y="30888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73" name="Google Shape;173;p34"/>
          <p:cNvSpPr txBox="1">
            <a:spLocks noGrp="1"/>
          </p:cNvSpPr>
          <p:nvPr>
            <p:ph type="subTitle" idx="13"/>
          </p:nvPr>
        </p:nvSpPr>
        <p:spPr>
          <a:xfrm>
            <a:off x="4752000" y="36144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74" name="Google Shape;174;p34"/>
          <p:cNvSpPr txBox="1">
            <a:spLocks noGrp="1"/>
          </p:cNvSpPr>
          <p:nvPr>
            <p:ph type="body" idx="14"/>
          </p:nvPr>
        </p:nvSpPr>
        <p:spPr>
          <a:xfrm>
            <a:off x="5212800" y="4176000"/>
            <a:ext cx="33912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●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○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Char char="■"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75" name="Google Shape;175;p34"/>
          <p:cNvSpPr txBox="1">
            <a:spLocks noGrp="1"/>
          </p:cNvSpPr>
          <p:nvPr>
            <p:ph type="subTitle" idx="15"/>
          </p:nvPr>
        </p:nvSpPr>
        <p:spPr>
          <a:xfrm>
            <a:off x="540000" y="1440000"/>
            <a:ext cx="3855600" cy="5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"/>
              <a:buNone/>
              <a:defRPr sz="12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pic>
        <p:nvPicPr>
          <p:cNvPr id="176" name="Google Shape;176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4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Конец презентации (благодарность)">
  <p:cSld name="CUSTOM_1_1">
    <p:bg>
      <p:bgPr>
        <a:solidFill>
          <a:schemeClr val="dk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250" y="2230975"/>
            <a:ext cx="1168075" cy="129427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6"/>
          <p:cNvSpPr txBox="1"/>
          <p:nvPr/>
        </p:nvSpPr>
        <p:spPr>
          <a:xfrm>
            <a:off x="2006850" y="1496438"/>
            <a:ext cx="5130300" cy="25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Спасибо </a:t>
            </a:r>
            <a:endParaRPr sz="440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за внимание</a:t>
            </a:r>
            <a:endParaRPr sz="440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80025"/>
            <a:ext cx="387050" cy="3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Для цитат">
  <p:cSld name="CUSTOM_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7"/>
          <p:cNvSpPr txBox="1">
            <a:spLocks noGrp="1"/>
          </p:cNvSpPr>
          <p:nvPr>
            <p:ph type="title"/>
          </p:nvPr>
        </p:nvSpPr>
        <p:spPr>
          <a:xfrm>
            <a:off x="936875" y="1004350"/>
            <a:ext cx="7270200" cy="31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5958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">
  <p:cSld name="1_Title slide 5_2_1_4_1_1_1">
    <p:bg>
      <p:bgPr>
        <a:solidFill>
          <a:schemeClr val="lt1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subTitle" idx="2"/>
          </p:nvPr>
        </p:nvSpPr>
        <p:spPr>
          <a:xfrm>
            <a:off x="1258700" y="150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subTitle" idx="3"/>
          </p:nvPr>
        </p:nvSpPr>
        <p:spPr>
          <a:xfrm>
            <a:off x="1258700" y="267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subTitle" idx="4"/>
          </p:nvPr>
        </p:nvSpPr>
        <p:spPr>
          <a:xfrm>
            <a:off x="1258700" y="3824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ubTitle" idx="5"/>
          </p:nvPr>
        </p:nvSpPr>
        <p:spPr>
          <a:xfrm>
            <a:off x="4071600" y="150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ubTitle" idx="6"/>
          </p:nvPr>
        </p:nvSpPr>
        <p:spPr>
          <a:xfrm>
            <a:off x="4071600" y="267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0" name="Google Shape;200;p38"/>
          <p:cNvSpPr txBox="1">
            <a:spLocks noGrp="1"/>
          </p:cNvSpPr>
          <p:nvPr>
            <p:ph type="subTitle" idx="7"/>
          </p:nvPr>
        </p:nvSpPr>
        <p:spPr>
          <a:xfrm>
            <a:off x="4071600" y="3824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1" name="Google Shape;201;p38"/>
          <p:cNvSpPr txBox="1">
            <a:spLocks noGrp="1"/>
          </p:cNvSpPr>
          <p:nvPr>
            <p:ph type="subTitle" idx="8"/>
          </p:nvPr>
        </p:nvSpPr>
        <p:spPr>
          <a:xfrm>
            <a:off x="6884500" y="150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2" name="Google Shape;202;p38"/>
          <p:cNvSpPr txBox="1">
            <a:spLocks noGrp="1"/>
          </p:cNvSpPr>
          <p:nvPr>
            <p:ph type="subTitle" idx="9"/>
          </p:nvPr>
        </p:nvSpPr>
        <p:spPr>
          <a:xfrm>
            <a:off x="6884500" y="26793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3" name="Google Shape;203;p38"/>
          <p:cNvSpPr txBox="1">
            <a:spLocks noGrp="1"/>
          </p:cNvSpPr>
          <p:nvPr>
            <p:ph type="subTitle" idx="13"/>
          </p:nvPr>
        </p:nvSpPr>
        <p:spPr>
          <a:xfrm>
            <a:off x="6884500" y="3824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4" name="Google Shape;204;p38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IBM Plex Sans"/>
              <a:buNone/>
              <a:defRPr sz="24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05" name="Google Shape;205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 1">
  <p:cSld name="1_Title slide 5_2_1_4_1_1_1_1">
    <p:bg>
      <p:bgPr>
        <a:solidFill>
          <a:schemeClr val="lt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8" name="Google Shape;208;p39"/>
          <p:cNvSpPr txBox="1">
            <a:spLocks noGrp="1"/>
          </p:cNvSpPr>
          <p:nvPr>
            <p:ph type="subTitle" idx="1"/>
          </p:nvPr>
        </p:nvSpPr>
        <p:spPr>
          <a:xfrm>
            <a:off x="1008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09" name="Google Shape;209;p39"/>
          <p:cNvSpPr txBox="1">
            <a:spLocks noGrp="1"/>
          </p:cNvSpPr>
          <p:nvPr>
            <p:ph type="subTitle" idx="2"/>
          </p:nvPr>
        </p:nvSpPr>
        <p:spPr>
          <a:xfrm>
            <a:off x="1008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0" name="Google Shape;210;p39"/>
          <p:cNvSpPr txBox="1">
            <a:spLocks noGrp="1"/>
          </p:cNvSpPr>
          <p:nvPr>
            <p:ph type="subTitle" idx="3"/>
          </p:nvPr>
        </p:nvSpPr>
        <p:spPr>
          <a:xfrm>
            <a:off x="1008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1" name="Google Shape;211;p39"/>
          <p:cNvSpPr txBox="1">
            <a:spLocks noGrp="1"/>
          </p:cNvSpPr>
          <p:nvPr>
            <p:ph type="subTitle" idx="4"/>
          </p:nvPr>
        </p:nvSpPr>
        <p:spPr>
          <a:xfrm>
            <a:off x="1008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2" name="Google Shape;212;p39"/>
          <p:cNvSpPr txBox="1">
            <a:spLocks noGrp="1"/>
          </p:cNvSpPr>
          <p:nvPr>
            <p:ph type="subTitle" idx="5"/>
          </p:nvPr>
        </p:nvSpPr>
        <p:spPr>
          <a:xfrm>
            <a:off x="1008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3" name="Google Shape;213;p39"/>
          <p:cNvSpPr txBox="1">
            <a:spLocks noGrp="1"/>
          </p:cNvSpPr>
          <p:nvPr>
            <p:ph type="subTitle" idx="6"/>
          </p:nvPr>
        </p:nvSpPr>
        <p:spPr>
          <a:xfrm>
            <a:off x="3114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4" name="Google Shape;214;p39"/>
          <p:cNvSpPr txBox="1">
            <a:spLocks noGrp="1"/>
          </p:cNvSpPr>
          <p:nvPr>
            <p:ph type="subTitle" idx="7"/>
          </p:nvPr>
        </p:nvSpPr>
        <p:spPr>
          <a:xfrm>
            <a:off x="3114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8"/>
          </p:nvPr>
        </p:nvSpPr>
        <p:spPr>
          <a:xfrm>
            <a:off x="3114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subTitle" idx="9"/>
          </p:nvPr>
        </p:nvSpPr>
        <p:spPr>
          <a:xfrm>
            <a:off x="3114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subTitle" idx="13"/>
          </p:nvPr>
        </p:nvSpPr>
        <p:spPr>
          <a:xfrm>
            <a:off x="3114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ubTitle" idx="14"/>
          </p:nvPr>
        </p:nvSpPr>
        <p:spPr>
          <a:xfrm>
            <a:off x="5220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19" name="Google Shape;219;p39"/>
          <p:cNvSpPr txBox="1">
            <a:spLocks noGrp="1"/>
          </p:cNvSpPr>
          <p:nvPr>
            <p:ph type="subTitle" idx="15"/>
          </p:nvPr>
        </p:nvSpPr>
        <p:spPr>
          <a:xfrm>
            <a:off x="5220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0" name="Google Shape;220;p39"/>
          <p:cNvSpPr txBox="1">
            <a:spLocks noGrp="1"/>
          </p:cNvSpPr>
          <p:nvPr>
            <p:ph type="subTitle" idx="16"/>
          </p:nvPr>
        </p:nvSpPr>
        <p:spPr>
          <a:xfrm>
            <a:off x="5220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1" name="Google Shape;221;p39"/>
          <p:cNvSpPr txBox="1">
            <a:spLocks noGrp="1"/>
          </p:cNvSpPr>
          <p:nvPr>
            <p:ph type="subTitle" idx="17"/>
          </p:nvPr>
        </p:nvSpPr>
        <p:spPr>
          <a:xfrm>
            <a:off x="5220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2" name="Google Shape;222;p39"/>
          <p:cNvSpPr txBox="1">
            <a:spLocks noGrp="1"/>
          </p:cNvSpPr>
          <p:nvPr>
            <p:ph type="subTitle" idx="18"/>
          </p:nvPr>
        </p:nvSpPr>
        <p:spPr>
          <a:xfrm>
            <a:off x="5220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3" name="Google Shape;223;p39"/>
          <p:cNvSpPr txBox="1">
            <a:spLocks noGrp="1"/>
          </p:cNvSpPr>
          <p:nvPr>
            <p:ph type="subTitle" idx="19"/>
          </p:nvPr>
        </p:nvSpPr>
        <p:spPr>
          <a:xfrm>
            <a:off x="7326000" y="14400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4" name="Google Shape;224;p39"/>
          <p:cNvSpPr txBox="1">
            <a:spLocks noGrp="1"/>
          </p:cNvSpPr>
          <p:nvPr>
            <p:ph type="subTitle" idx="20"/>
          </p:nvPr>
        </p:nvSpPr>
        <p:spPr>
          <a:xfrm>
            <a:off x="7326000" y="2145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5" name="Google Shape;225;p39"/>
          <p:cNvSpPr txBox="1">
            <a:spLocks noGrp="1"/>
          </p:cNvSpPr>
          <p:nvPr>
            <p:ph type="subTitle" idx="21"/>
          </p:nvPr>
        </p:nvSpPr>
        <p:spPr>
          <a:xfrm>
            <a:off x="7326000" y="2858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6" name="Google Shape;226;p39"/>
          <p:cNvSpPr txBox="1">
            <a:spLocks noGrp="1"/>
          </p:cNvSpPr>
          <p:nvPr>
            <p:ph type="subTitle" idx="22"/>
          </p:nvPr>
        </p:nvSpPr>
        <p:spPr>
          <a:xfrm>
            <a:off x="7326000" y="35676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27" name="Google Shape;227;p39"/>
          <p:cNvSpPr txBox="1">
            <a:spLocks noGrp="1"/>
          </p:cNvSpPr>
          <p:nvPr>
            <p:ph type="subTitle" idx="23"/>
          </p:nvPr>
        </p:nvSpPr>
        <p:spPr>
          <a:xfrm>
            <a:off x="7326000" y="4280400"/>
            <a:ext cx="1278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28" name="Google Shape;22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9"/>
          <p:cNvSpPr txBox="1">
            <a:spLocks noGrp="1"/>
          </p:cNvSpPr>
          <p:nvPr>
            <p:ph type="subTitle" idx="24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 1 1">
  <p:cSld name="1_Title slide 5_2_1_4_1_1_1_1_1">
    <p:bg>
      <p:bgPr>
        <a:solidFill>
          <a:schemeClr val="lt1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IBM Plex Sans"/>
              <a:buNone/>
              <a:defRPr sz="1800" b="1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subTitle" idx="1"/>
          </p:nvPr>
        </p:nvSpPr>
        <p:spPr>
          <a:xfrm>
            <a:off x="5400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subTitle" idx="2"/>
          </p:nvPr>
        </p:nvSpPr>
        <p:spPr>
          <a:xfrm>
            <a:off x="5400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ubTitle" idx="3"/>
          </p:nvPr>
        </p:nvSpPr>
        <p:spPr>
          <a:xfrm>
            <a:off x="26460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5" name="Google Shape;235;p40"/>
          <p:cNvSpPr txBox="1">
            <a:spLocks noGrp="1"/>
          </p:cNvSpPr>
          <p:nvPr>
            <p:ph type="subTitle" idx="4"/>
          </p:nvPr>
        </p:nvSpPr>
        <p:spPr>
          <a:xfrm>
            <a:off x="47448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6" name="Google Shape;236;p40"/>
          <p:cNvSpPr txBox="1">
            <a:spLocks noGrp="1"/>
          </p:cNvSpPr>
          <p:nvPr>
            <p:ph type="subTitle" idx="5"/>
          </p:nvPr>
        </p:nvSpPr>
        <p:spPr>
          <a:xfrm>
            <a:off x="6843600" y="20201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7" name="Google Shape;237;p40"/>
          <p:cNvSpPr txBox="1">
            <a:spLocks noGrp="1"/>
          </p:cNvSpPr>
          <p:nvPr>
            <p:ph type="subTitle" idx="6"/>
          </p:nvPr>
        </p:nvSpPr>
        <p:spPr>
          <a:xfrm>
            <a:off x="26460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8" name="Google Shape;238;p40"/>
          <p:cNvSpPr txBox="1">
            <a:spLocks noGrp="1"/>
          </p:cNvSpPr>
          <p:nvPr>
            <p:ph type="subTitle" idx="7"/>
          </p:nvPr>
        </p:nvSpPr>
        <p:spPr>
          <a:xfrm>
            <a:off x="47448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39" name="Google Shape;239;p40"/>
          <p:cNvSpPr txBox="1">
            <a:spLocks noGrp="1"/>
          </p:cNvSpPr>
          <p:nvPr>
            <p:ph type="subTitle" idx="8"/>
          </p:nvPr>
        </p:nvSpPr>
        <p:spPr>
          <a:xfrm>
            <a:off x="6843600" y="3794900"/>
            <a:ext cx="1720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40" name="Google Shape;240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 txBox="1">
            <a:spLocks noGrp="1"/>
          </p:cNvSpPr>
          <p:nvPr>
            <p:ph type="subTitle" idx="9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Заголовок в две строки + текст  1 1 1 1 1">
  <p:cSld name="1_Title slide 5_2_1_4_1_1_1_1_1_1">
    <p:bg>
      <p:bgPr>
        <a:solidFill>
          <a:schemeClr val="lt1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1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20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IBM Plex Sans SemiBold"/>
              <a:buNone/>
              <a:defRPr sz="18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None/>
              <a:defRPr sz="1800" b="1"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4" name="Google Shape;244;p41"/>
          <p:cNvSpPr txBox="1">
            <a:spLocks noGrp="1"/>
          </p:cNvSpPr>
          <p:nvPr>
            <p:ph type="subTitle" idx="1"/>
          </p:nvPr>
        </p:nvSpPr>
        <p:spPr>
          <a:xfrm>
            <a:off x="540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5" name="Google Shape;245;p41"/>
          <p:cNvSpPr txBox="1">
            <a:spLocks noGrp="1"/>
          </p:cNvSpPr>
          <p:nvPr>
            <p:ph type="subTitle" idx="2"/>
          </p:nvPr>
        </p:nvSpPr>
        <p:spPr>
          <a:xfrm>
            <a:off x="540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6" name="Google Shape;246;p41"/>
          <p:cNvSpPr txBox="1">
            <a:spLocks noGrp="1"/>
          </p:cNvSpPr>
          <p:nvPr>
            <p:ph type="subTitle" idx="3"/>
          </p:nvPr>
        </p:nvSpPr>
        <p:spPr>
          <a:xfrm>
            <a:off x="540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7" name="Google Shape;247;p41"/>
          <p:cNvSpPr txBox="1">
            <a:spLocks noGrp="1"/>
          </p:cNvSpPr>
          <p:nvPr>
            <p:ph type="subTitle" idx="4"/>
          </p:nvPr>
        </p:nvSpPr>
        <p:spPr>
          <a:xfrm>
            <a:off x="2646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8" name="Google Shape;248;p41"/>
          <p:cNvSpPr txBox="1">
            <a:spLocks noGrp="1"/>
          </p:cNvSpPr>
          <p:nvPr>
            <p:ph type="subTitle" idx="5"/>
          </p:nvPr>
        </p:nvSpPr>
        <p:spPr>
          <a:xfrm>
            <a:off x="2646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49" name="Google Shape;249;p41"/>
          <p:cNvSpPr txBox="1">
            <a:spLocks noGrp="1"/>
          </p:cNvSpPr>
          <p:nvPr>
            <p:ph type="subTitle" idx="6"/>
          </p:nvPr>
        </p:nvSpPr>
        <p:spPr>
          <a:xfrm>
            <a:off x="2646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0" name="Google Shape;250;p41"/>
          <p:cNvSpPr txBox="1">
            <a:spLocks noGrp="1"/>
          </p:cNvSpPr>
          <p:nvPr>
            <p:ph type="subTitle" idx="7"/>
          </p:nvPr>
        </p:nvSpPr>
        <p:spPr>
          <a:xfrm>
            <a:off x="4752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1" name="Google Shape;251;p41"/>
          <p:cNvSpPr txBox="1">
            <a:spLocks noGrp="1"/>
          </p:cNvSpPr>
          <p:nvPr>
            <p:ph type="subTitle" idx="8"/>
          </p:nvPr>
        </p:nvSpPr>
        <p:spPr>
          <a:xfrm>
            <a:off x="4752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2" name="Google Shape;252;p41"/>
          <p:cNvSpPr txBox="1">
            <a:spLocks noGrp="1"/>
          </p:cNvSpPr>
          <p:nvPr>
            <p:ph type="subTitle" idx="9"/>
          </p:nvPr>
        </p:nvSpPr>
        <p:spPr>
          <a:xfrm>
            <a:off x="4752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3" name="Google Shape;253;p41"/>
          <p:cNvSpPr txBox="1">
            <a:spLocks noGrp="1"/>
          </p:cNvSpPr>
          <p:nvPr>
            <p:ph type="subTitle" idx="13"/>
          </p:nvPr>
        </p:nvSpPr>
        <p:spPr>
          <a:xfrm>
            <a:off x="6858000" y="18000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4" name="Google Shape;254;p41"/>
          <p:cNvSpPr txBox="1">
            <a:spLocks noGrp="1"/>
          </p:cNvSpPr>
          <p:nvPr>
            <p:ph type="subTitle" idx="14"/>
          </p:nvPr>
        </p:nvSpPr>
        <p:spPr>
          <a:xfrm>
            <a:off x="6858000" y="28764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255" name="Google Shape;255;p41"/>
          <p:cNvSpPr txBox="1">
            <a:spLocks noGrp="1"/>
          </p:cNvSpPr>
          <p:nvPr>
            <p:ph type="subTitle" idx="15"/>
          </p:nvPr>
        </p:nvSpPr>
        <p:spPr>
          <a:xfrm>
            <a:off x="6858000" y="3952800"/>
            <a:ext cx="1746000" cy="3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Font typeface="IBM Plex Sans"/>
              <a:buNone/>
              <a:defRPr sz="1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56" name="Google Shape;25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4680000"/>
            <a:ext cx="291600" cy="2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Пустой слайд 10">
  <p:cSld name="1_Title slide 5_2_1_11">
    <p:bg>
      <p:bgPr>
        <a:solidFill>
          <a:schemeClr val="l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2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60" name="Google Shape;26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Пустой слайд 9">
  <p:cSld name="1_Title slide 5_2_1_10">
    <p:bg>
      <p:bgPr>
        <a:solidFill>
          <a:schemeClr val="lt1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subTitle" idx="1"/>
          </p:nvPr>
        </p:nvSpPr>
        <p:spPr>
          <a:xfrm>
            <a:off x="540000" y="152400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6000" rIns="0" bIns="360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"/>
              <a:buNone/>
              <a:defRPr sz="10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pic>
        <p:nvPicPr>
          <p:cNvPr id="263" name="Google Shape;26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604000" y="186600"/>
            <a:ext cx="291600" cy="2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pos="340">
          <p15:clr>
            <a:srgbClr val="FA7B17"/>
          </p15:clr>
        </p15:guide>
        <p15:guide id="2" pos="5420">
          <p15:clr>
            <a:srgbClr val="FA7B17"/>
          </p15:clr>
        </p15:guide>
        <p15:guide id="3" orient="horz" pos="2948">
          <p15:clr>
            <a:srgbClr val="FA7B17"/>
          </p15:clr>
        </p15:guide>
        <p15:guide id="4" orient="horz" pos="227">
          <p15:clr>
            <a:srgbClr val="FA7B17"/>
          </p15:clr>
        </p15:guide>
        <p15:guide id="5" orient="horz" pos="454">
          <p15:clr>
            <a:srgbClr val="FA7B17"/>
          </p15:clr>
        </p15:guide>
        <p15:guide id="6" pos="2767">
          <p15:clr>
            <a:srgbClr val="FA7B17"/>
          </p15:clr>
        </p15:guide>
        <p15:guide id="7" pos="1667">
          <p15:clr>
            <a:srgbClr val="FA7B17"/>
          </p15:clr>
        </p15:guide>
        <p15:guide id="8" pos="2993">
          <p15:clr>
            <a:srgbClr val="FA7B17"/>
          </p15:clr>
        </p15:guide>
        <p15:guide id="9" pos="4093">
          <p15:clr>
            <a:srgbClr val="FA7B17"/>
          </p15:clr>
        </p15:guide>
        <p15:guide id="10" pos="4320">
          <p15:clr>
            <a:srgbClr val="FA7B17"/>
          </p15:clr>
        </p15:guide>
        <p15:guide id="11" pos="1440">
          <p15:clr>
            <a:srgbClr val="FA7B17"/>
          </p15:clr>
        </p15:guide>
        <p15:guide id="12" orient="horz" pos="1134">
          <p15:clr>
            <a:srgbClr val="FA7B17"/>
          </p15:clr>
        </p15:guide>
        <p15:guide id="13" orient="horz" pos="907">
          <p15:clr>
            <a:srgbClr val="FA7B17"/>
          </p15:clr>
        </p15:guide>
        <p15:guide id="14" orient="horz" pos="1587">
          <p15:clr>
            <a:srgbClr val="FA7B17"/>
          </p15:clr>
        </p15:guide>
        <p15:guide id="15" orient="horz" pos="1814">
          <p15:clr>
            <a:srgbClr val="FA7B17"/>
          </p15:clr>
        </p15:guide>
        <p15:guide id="16" orient="horz" pos="2268">
          <p15:clr>
            <a:srgbClr val="FA7B17"/>
          </p15:clr>
        </p15:guide>
        <p15:guide id="17" orient="horz" pos="2494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70" r:id="rId8"/>
    <p:sldLayoutId id="2147483671" r:id="rId9"/>
    <p:sldLayoutId id="2147483672" r:id="rId10"/>
    <p:sldLayoutId id="2147483674" r:id="rId11"/>
    <p:sldLayoutId id="2147483675" r:id="rId12"/>
    <p:sldLayoutId id="2147483676" r:id="rId13"/>
    <p:sldLayoutId id="2147483678" r:id="rId14"/>
    <p:sldLayoutId id="2147483679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4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3035518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r>
              <a:rPr lang="ru-RU" dirty="0" smtClean="0"/>
              <a:t>ПРОДОЛЖЕНИЕ</a:t>
            </a:r>
            <a:br>
              <a:rPr lang="ru-RU" dirty="0" smtClean="0"/>
            </a:br>
            <a:r>
              <a:rPr lang="ru-RU" dirty="0" smtClean="0"/>
              <a:t>УГЛУБЛЕНИЯ В </a:t>
            </a:r>
            <a:r>
              <a:rPr lang="en-US" dirty="0" smtClean="0"/>
              <a:t>SQL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270" name="Google Shape;27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825" y="352675"/>
            <a:ext cx="3325527" cy="28075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>
            <a:spLocks noGrp="1"/>
          </p:cNvSpPr>
          <p:nvPr>
            <p:ph type="subTitle" idx="1"/>
          </p:nvPr>
        </p:nvSpPr>
        <p:spPr>
          <a:xfrm>
            <a:off x="540000" y="18000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Импорт и экспорт</a:t>
            </a:r>
            <a:endParaRPr dirty="0"/>
          </a:p>
        </p:txBody>
      </p:sp>
      <p:sp>
        <p:nvSpPr>
          <p:cNvPr id="303" name="Google Shape;303;p48"/>
          <p:cNvSpPr/>
          <p:nvPr/>
        </p:nvSpPr>
        <p:spPr>
          <a:xfrm>
            <a:off x="539975" y="1440001"/>
            <a:ext cx="351600" cy="351600"/>
          </a:xfrm>
          <a:prstGeom prst="ellipse">
            <a:avLst/>
          </a:prstGeom>
          <a:solidFill>
            <a:schemeClr val="dk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1"/>
                </a:solidFill>
              </a:rPr>
              <a:t>1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04" name="Google Shape;304;p48"/>
          <p:cNvSpPr/>
          <p:nvPr/>
        </p:nvSpPr>
        <p:spPr>
          <a:xfrm>
            <a:off x="2645991" y="1439997"/>
            <a:ext cx="351600" cy="351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1"/>
                </a:solidFill>
              </a:rPr>
              <a:t>2</a:t>
            </a:r>
            <a:endParaRPr sz="1000" b="1">
              <a:solidFill>
                <a:schemeClr val="lt1"/>
              </a:solidFill>
            </a:endParaRPr>
          </a:p>
        </p:txBody>
      </p:sp>
      <p:sp>
        <p:nvSpPr>
          <p:cNvPr id="305" name="Google Shape;305;p48"/>
          <p:cNvSpPr/>
          <p:nvPr/>
        </p:nvSpPr>
        <p:spPr>
          <a:xfrm>
            <a:off x="4747816" y="1443142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3</a:t>
            </a:r>
            <a:endParaRPr sz="1000" b="1">
              <a:solidFill>
                <a:schemeClr val="lt2"/>
              </a:solidFill>
            </a:endParaRPr>
          </a:p>
        </p:txBody>
      </p:sp>
      <p:cxnSp>
        <p:nvCxnSpPr>
          <p:cNvPr id="306" name="Google Shape;306;p48"/>
          <p:cNvCxnSpPr>
            <a:stCxn id="303" idx="6"/>
            <a:endCxn id="304" idx="2"/>
          </p:cNvCxnSpPr>
          <p:nvPr/>
        </p:nvCxnSpPr>
        <p:spPr>
          <a:xfrm>
            <a:off x="891575" y="1615801"/>
            <a:ext cx="17544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48"/>
          <p:cNvCxnSpPr>
            <a:stCxn id="304" idx="6"/>
            <a:endCxn id="305" idx="2"/>
          </p:cNvCxnSpPr>
          <p:nvPr/>
        </p:nvCxnSpPr>
        <p:spPr>
          <a:xfrm>
            <a:off x="2997591" y="1615797"/>
            <a:ext cx="1750200" cy="30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48"/>
          <p:cNvCxnSpPr>
            <a:stCxn id="305" idx="6"/>
            <a:endCxn id="309" idx="2"/>
          </p:cNvCxnSpPr>
          <p:nvPr/>
        </p:nvCxnSpPr>
        <p:spPr>
          <a:xfrm>
            <a:off x="5099416" y="1618942"/>
            <a:ext cx="1750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Google Shape;309;p48"/>
          <p:cNvSpPr/>
          <p:nvPr/>
        </p:nvSpPr>
        <p:spPr>
          <a:xfrm>
            <a:off x="6849641" y="1443142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4</a:t>
            </a:r>
            <a:endParaRPr sz="1000" b="1">
              <a:solidFill>
                <a:schemeClr val="lt2"/>
              </a:solidFill>
            </a:endParaRPr>
          </a:p>
        </p:txBody>
      </p:sp>
      <p:sp>
        <p:nvSpPr>
          <p:cNvPr id="310" name="Google Shape;310;p48"/>
          <p:cNvSpPr/>
          <p:nvPr/>
        </p:nvSpPr>
        <p:spPr>
          <a:xfrm>
            <a:off x="539966" y="2518880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5</a:t>
            </a:r>
            <a:endParaRPr sz="1000" b="1">
              <a:solidFill>
                <a:schemeClr val="lt2"/>
              </a:solidFill>
            </a:endParaRPr>
          </a:p>
        </p:txBody>
      </p:sp>
      <p:cxnSp>
        <p:nvCxnSpPr>
          <p:cNvPr id="311" name="Google Shape;311;p48"/>
          <p:cNvCxnSpPr>
            <a:stCxn id="310" idx="6"/>
            <a:endCxn id="312" idx="2"/>
          </p:cNvCxnSpPr>
          <p:nvPr/>
        </p:nvCxnSpPr>
        <p:spPr>
          <a:xfrm>
            <a:off x="891566" y="2694680"/>
            <a:ext cx="17502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2" name="Google Shape;312;p48"/>
          <p:cNvSpPr/>
          <p:nvPr/>
        </p:nvSpPr>
        <p:spPr>
          <a:xfrm>
            <a:off x="2641791" y="2518880"/>
            <a:ext cx="351600" cy="3516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b="1">
                <a:solidFill>
                  <a:schemeClr val="lt2"/>
                </a:solidFill>
              </a:rPr>
              <a:t>6</a:t>
            </a:r>
            <a:endParaRPr sz="1000" b="1">
              <a:solidFill>
                <a:schemeClr val="lt2"/>
              </a:solidFill>
            </a:endParaRPr>
          </a:p>
        </p:txBody>
      </p:sp>
      <p:cxnSp>
        <p:nvCxnSpPr>
          <p:cNvPr id="313" name="Google Shape;313;p48"/>
          <p:cNvCxnSpPr>
            <a:stCxn id="309" idx="6"/>
          </p:cNvCxnSpPr>
          <p:nvPr/>
        </p:nvCxnSpPr>
        <p:spPr>
          <a:xfrm>
            <a:off x="7201241" y="1618942"/>
            <a:ext cx="1974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48"/>
          <p:cNvCxnSpPr>
            <a:endCxn id="310" idx="2"/>
          </p:cNvCxnSpPr>
          <p:nvPr/>
        </p:nvCxnSpPr>
        <p:spPr>
          <a:xfrm>
            <a:off x="-34" y="2694680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48"/>
          <p:cNvSpPr txBox="1">
            <a:spLocks noGrp="1"/>
          </p:cNvSpPr>
          <p:nvPr>
            <p:ph type="subTitle" idx="2"/>
          </p:nvPr>
        </p:nvSpPr>
        <p:spPr>
          <a:xfrm>
            <a:off x="540000" y="28764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Рекурсивные запросы</a:t>
            </a:r>
            <a:endParaRPr lang="ru-RU" dirty="0"/>
          </a:p>
        </p:txBody>
      </p:sp>
      <p:sp>
        <p:nvSpPr>
          <p:cNvPr id="326" name="Google Shape;326;p48"/>
          <p:cNvSpPr txBox="1">
            <a:spLocks noGrp="1"/>
          </p:cNvSpPr>
          <p:nvPr>
            <p:ph type="subTitle" idx="4"/>
          </p:nvPr>
        </p:nvSpPr>
        <p:spPr>
          <a:xfrm>
            <a:off x="2646000" y="1800000"/>
            <a:ext cx="1746000" cy="49241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Простые запросы  (повторение)</a:t>
            </a:r>
            <a:endParaRPr dirty="0"/>
          </a:p>
        </p:txBody>
      </p:sp>
      <p:sp>
        <p:nvSpPr>
          <p:cNvPr id="327" name="Google Shape;327;p48"/>
          <p:cNvSpPr txBox="1">
            <a:spLocks noGrp="1"/>
          </p:cNvSpPr>
          <p:nvPr>
            <p:ph type="subTitle" idx="5"/>
          </p:nvPr>
        </p:nvSpPr>
        <p:spPr>
          <a:xfrm>
            <a:off x="2646000" y="28764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Создание представлений </a:t>
            </a:r>
            <a:endParaRPr lang="ru-RU" dirty="0"/>
          </a:p>
        </p:txBody>
      </p:sp>
      <p:sp>
        <p:nvSpPr>
          <p:cNvPr id="329" name="Google Shape;329;p48"/>
          <p:cNvSpPr txBox="1">
            <a:spLocks noGrp="1"/>
          </p:cNvSpPr>
          <p:nvPr>
            <p:ph type="subTitle" idx="7"/>
          </p:nvPr>
        </p:nvSpPr>
        <p:spPr>
          <a:xfrm>
            <a:off x="4752000" y="1800000"/>
            <a:ext cx="1746000" cy="3385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Составные запросы</a:t>
            </a:r>
            <a:endParaRPr dirty="0"/>
          </a:p>
        </p:txBody>
      </p:sp>
      <p:sp>
        <p:nvSpPr>
          <p:cNvPr id="331" name="Google Shape;331;p48"/>
          <p:cNvSpPr txBox="1">
            <a:spLocks noGrp="1"/>
          </p:cNvSpPr>
          <p:nvPr>
            <p:ph type="subTitle" idx="13"/>
          </p:nvPr>
        </p:nvSpPr>
        <p:spPr>
          <a:xfrm>
            <a:off x="6858000" y="1800000"/>
            <a:ext cx="1746000" cy="49241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pPr lvl="0"/>
            <a:r>
              <a:rPr lang="ru-RU" dirty="0" smtClean="0"/>
              <a:t>Агрегатные </a:t>
            </a:r>
            <a:r>
              <a:rPr lang="en-US" dirty="0" smtClean="0"/>
              <a:t>VS</a:t>
            </a:r>
            <a:r>
              <a:rPr lang="ru-RU" dirty="0" smtClean="0"/>
              <a:t> Оконных функций</a:t>
            </a:r>
            <a:endParaRPr lang="ru-RU" dirty="0"/>
          </a:p>
        </p:txBody>
      </p:sp>
      <p:cxnSp>
        <p:nvCxnSpPr>
          <p:cNvPr id="333" name="Google Shape;333;p48"/>
          <p:cNvCxnSpPr>
            <a:endCxn id="303" idx="2"/>
          </p:cNvCxnSpPr>
          <p:nvPr/>
        </p:nvCxnSpPr>
        <p:spPr>
          <a:xfrm>
            <a:off x="-25" y="1615801"/>
            <a:ext cx="540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" name="Google Shape;334;p48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5200" cy="3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/>
              <a:t>О чем поговорим</a:t>
            </a:r>
            <a:endParaRPr dirty="0"/>
          </a:p>
        </p:txBody>
      </p:sp>
      <p:sp>
        <p:nvSpPr>
          <p:cNvPr id="335" name="Google Shape;335;p48"/>
          <p:cNvSpPr txBox="1">
            <a:spLocks noGrp="1"/>
          </p:cNvSpPr>
          <p:nvPr>
            <p:ph type="subTitle" idx="16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/>
              <a:t>Инженер данных. Профессия</a:t>
            </a:r>
            <a:endParaRPr dirty="0"/>
          </a:p>
        </p:txBody>
      </p:sp>
      <p:pic>
        <p:nvPicPr>
          <p:cNvPr id="43" name="Google Shape;34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36096" y="2427734"/>
            <a:ext cx="2033031" cy="2333099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Прямоугольник 23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IBM Plex Sans"/>
                <a:sym typeface="IBM Plex Sans"/>
              </a:rPr>
              <a:t>Экспорт и импорт</a:t>
            </a:r>
            <a:endParaRPr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36930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Импортируем нужные для работы БД (практика)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dirty="0" smtClean="0"/>
              <a:t>Инструкция по созданию БД и таблиц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3891584" cy="2123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R="76200" lvl="0">
              <a:lnSpc>
                <a:spcPct val="114500"/>
              </a:lnSpc>
              <a:buClr>
                <a:schemeClr val="dk1"/>
              </a:buClr>
            </a:pPr>
            <a:r>
              <a:rPr lang="en-US" dirty="0" smtClean="0"/>
              <a:t>https://disk.yandex.lt/i/6izbvvqAYMTK7w</a:t>
            </a:r>
            <a:endParaRPr lang="en-US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64835" y="2571750"/>
            <a:ext cx="317106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IBM Plex Sans"/>
                <a:ea typeface="IBM Plex Sans"/>
                <a:cs typeface="IBM Plex Sans"/>
                <a:sym typeface="IBM Plex Sans"/>
              </a:rPr>
              <a:t>https://disk.yandex.ru/d/L7REXJF2LcMsPg</a:t>
            </a:r>
            <a:endParaRPr lang="ru-RU" sz="1200" dirty="0" smtClean="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" name="Google Shape;340;p49"/>
          <p:cNvSpPr txBox="1">
            <a:spLocks/>
          </p:cNvSpPr>
          <p:nvPr/>
        </p:nvSpPr>
        <p:spPr>
          <a:xfrm>
            <a:off x="539552" y="2067694"/>
            <a:ext cx="8064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BM Plex Sans SemiBold"/>
              <a:buNone/>
              <a:tabLst/>
              <a:defRPr/>
            </a:pPr>
            <a:r>
              <a:rPr lang="ru-RU" sz="1800" dirty="0" smtClean="0"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Таблица</a:t>
            </a:r>
            <a:r>
              <a:rPr kumimoji="0" lang="ru-RU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 для импорта</a:t>
            </a:r>
            <a:endParaRPr kumimoji="0" lang="ru-RU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b="1" dirty="0" smtClean="0">
                <a:latin typeface="IBM Plex Sans"/>
                <a:sym typeface="IBM Plex Sans"/>
              </a:rPr>
              <a:t>Простые запросы</a:t>
            </a:r>
            <a:endParaRPr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36930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Повторение (практика)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2739456" cy="205287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R="76200" lvl="0">
              <a:lnSpc>
                <a:spcPct val="114500"/>
              </a:lnSpc>
              <a:buClr>
                <a:schemeClr val="dk1"/>
              </a:buClr>
            </a:pPr>
            <a:r>
              <a:rPr lang="ru-RU" dirty="0" smtClean="0"/>
              <a:t>Выполнить запрос, который позволяет вывести все поля импортированной таблицы, где </a:t>
            </a:r>
            <a:r>
              <a:rPr lang="en-US" dirty="0" err="1" smtClean="0"/>
              <a:t>customerid</a:t>
            </a:r>
            <a:r>
              <a:rPr lang="ru-RU" dirty="0" smtClean="0"/>
              <a:t> = 2</a:t>
            </a:r>
            <a:r>
              <a:rPr lang="en-US" dirty="0" smtClean="0"/>
              <a:t>.</a:t>
            </a:r>
          </a:p>
          <a:p>
            <a:pPr marR="76200" lvl="0">
              <a:lnSpc>
                <a:spcPct val="114500"/>
              </a:lnSpc>
              <a:buClr>
                <a:schemeClr val="dk1"/>
              </a:buClr>
            </a:pPr>
            <a:endParaRPr lang="en-US" dirty="0" smtClean="0"/>
          </a:p>
          <a:p>
            <a:pPr marR="76200" lvl="0">
              <a:lnSpc>
                <a:spcPct val="114500"/>
              </a:lnSpc>
              <a:buClr>
                <a:schemeClr val="dk1"/>
              </a:buClr>
            </a:pPr>
            <a:r>
              <a:rPr lang="ru-RU" sz="2800" dirty="0" smtClean="0"/>
              <a:t>Сколько таких полей?</a:t>
            </a:r>
            <a:endParaRPr lang="en-US" sz="2800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Для справки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2739456" cy="127419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R="76200" lvl="0">
              <a:lnSpc>
                <a:spcPct val="114500"/>
              </a:lnSpc>
              <a:buClr>
                <a:schemeClr val="dk1"/>
              </a:buClr>
            </a:pPr>
            <a:r>
              <a:rPr lang="en-US" dirty="0" smtClean="0"/>
              <a:t>Alias </a:t>
            </a:r>
            <a:r>
              <a:rPr lang="ru-RU" dirty="0" smtClean="0"/>
              <a:t>- имя, назначенное источнику данных в запросе при использовании выражения в качестве источника данных или для упрощения ввода и прочтения инструкции SQL.</a:t>
            </a:r>
            <a:endParaRPr lang="en-US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Составные запросы</a:t>
            </a:r>
            <a:endParaRPr lang="ru-RU"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553968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en-US" b="1" dirty="0" err="1" smtClean="0"/>
              <a:t>Использование</a:t>
            </a:r>
            <a:r>
              <a:rPr lang="en-US" b="1" dirty="0" smtClean="0"/>
              <a:t> </a:t>
            </a:r>
            <a:r>
              <a:rPr lang="en-US" b="1" dirty="0" err="1" smtClean="0"/>
              <a:t>предикатов</a:t>
            </a:r>
            <a:r>
              <a:rPr lang="en-US" b="1" dirty="0" smtClean="0"/>
              <a:t> IN, AND, OR, BETWEEN, LIKE</a:t>
            </a:r>
          </a:p>
          <a:p>
            <a:r>
              <a:rPr lang="ru-RU" dirty="0" smtClean="0"/>
              <a:t> (практика)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2739456" cy="184665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b="1" dirty="0" err="1" smtClean="0"/>
              <a:t>Select</a:t>
            </a:r>
            <a:r>
              <a:rPr lang="ru-RU" dirty="0" smtClean="0"/>
              <a:t> * </a:t>
            </a:r>
            <a:r>
              <a:rPr lang="ru-RU" b="1" dirty="0" err="1" smtClean="0"/>
              <a:t>from</a:t>
            </a:r>
            <a:r>
              <a:rPr lang="ru-RU" dirty="0" smtClean="0"/>
              <a:t>  </a:t>
            </a:r>
            <a:r>
              <a:rPr lang="ru-RU" dirty="0" err="1" smtClean="0"/>
              <a:t>InvoiceLine</a:t>
            </a:r>
            <a:r>
              <a:rPr lang="ru-RU" dirty="0" smtClean="0"/>
              <a:t> </a:t>
            </a:r>
            <a:r>
              <a:rPr lang="ru-RU" dirty="0" err="1" smtClean="0"/>
              <a:t>il</a:t>
            </a:r>
            <a:r>
              <a:rPr lang="ru-RU" dirty="0" smtClean="0"/>
              <a:t> </a:t>
            </a:r>
          </a:p>
          <a:p>
            <a:r>
              <a:rPr lang="ru-RU" dirty="0" smtClean="0"/>
              <a:t>  </a:t>
            </a:r>
            <a:r>
              <a:rPr lang="ru-RU" b="1" dirty="0" err="1" smtClean="0"/>
              <a:t>where</a:t>
            </a:r>
            <a:r>
              <a:rPr lang="ru-RU" dirty="0" smtClean="0"/>
              <a:t> (</a:t>
            </a:r>
            <a:r>
              <a:rPr lang="ru-RU" dirty="0" err="1" smtClean="0"/>
              <a:t>InvoiceId</a:t>
            </a:r>
            <a:r>
              <a:rPr lang="ru-RU" dirty="0" smtClean="0"/>
              <a:t> </a:t>
            </a:r>
            <a:r>
              <a:rPr lang="ru-RU" b="1" dirty="0" err="1" smtClean="0"/>
              <a:t>between</a:t>
            </a:r>
            <a:r>
              <a:rPr lang="ru-RU" dirty="0" smtClean="0"/>
              <a:t> 3 </a:t>
            </a:r>
            <a:r>
              <a:rPr lang="ru-RU" b="1" dirty="0" smtClean="0"/>
              <a:t>AND</a:t>
            </a:r>
            <a:r>
              <a:rPr lang="ru-RU" dirty="0" smtClean="0"/>
              <a:t> 5)</a:t>
            </a:r>
          </a:p>
          <a:p>
            <a:r>
              <a:rPr lang="ru-RU" dirty="0" smtClean="0"/>
              <a:t>        </a:t>
            </a:r>
            <a:r>
              <a:rPr lang="ru-RU" b="1" dirty="0" smtClean="0"/>
              <a:t>OR</a:t>
            </a:r>
            <a:endParaRPr lang="ru-RU" dirty="0" smtClean="0"/>
          </a:p>
          <a:p>
            <a:r>
              <a:rPr lang="ru-RU" dirty="0" smtClean="0"/>
              <a:t>        (</a:t>
            </a:r>
            <a:r>
              <a:rPr lang="ru-RU" dirty="0" err="1" smtClean="0"/>
              <a:t>TrackId</a:t>
            </a:r>
            <a:r>
              <a:rPr lang="ru-RU" dirty="0" smtClean="0"/>
              <a:t> </a:t>
            </a:r>
            <a:r>
              <a:rPr lang="ru-RU" b="1" dirty="0" err="1" smtClean="0"/>
              <a:t>between</a:t>
            </a:r>
            <a:r>
              <a:rPr lang="ru-RU" dirty="0" smtClean="0"/>
              <a:t> 10 </a:t>
            </a:r>
            <a:r>
              <a:rPr lang="ru-RU" b="1" dirty="0" smtClean="0"/>
              <a:t>AND</a:t>
            </a:r>
            <a:r>
              <a:rPr lang="ru-RU" dirty="0" smtClean="0"/>
              <a:t> 100)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SELECT</a:t>
            </a:r>
            <a:r>
              <a:rPr lang="en-US" dirty="0" smtClean="0"/>
              <a:t> * </a:t>
            </a:r>
            <a:r>
              <a:rPr lang="en-US" b="1" dirty="0" smtClean="0"/>
              <a:t>FROM</a:t>
            </a:r>
            <a:r>
              <a:rPr lang="en-US" dirty="0" smtClean="0"/>
              <a:t> Invoice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WHERE</a:t>
            </a:r>
            <a:r>
              <a:rPr lang="en-US" dirty="0" smtClean="0"/>
              <a:t> </a:t>
            </a:r>
            <a:r>
              <a:rPr lang="en-US" dirty="0" err="1" smtClean="0"/>
              <a:t>BillingCountry</a:t>
            </a:r>
            <a:r>
              <a:rPr lang="en-US" dirty="0" smtClean="0"/>
              <a:t> </a:t>
            </a:r>
            <a:r>
              <a:rPr lang="en-US" b="1" dirty="0" smtClean="0"/>
              <a:t>IN</a:t>
            </a:r>
            <a:r>
              <a:rPr lang="en-US" dirty="0" smtClean="0"/>
              <a:t> ("Chile", "USA", "Canada")</a:t>
            </a:r>
          </a:p>
          <a:p>
            <a:endParaRPr lang="ru-RU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39552" y="3939902"/>
            <a:ext cx="3012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Какой результат у этих запросов?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 smtClean="0"/>
              <a:t>GROUP BY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C:\Users\магазин\Downloads\Скриншот-15-08-2024 16_00_1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5" y="1131590"/>
            <a:ext cx="7084143" cy="30243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 smtClean="0"/>
              <a:t>GROUP BY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0" name="Picture 2" descr="C:\Users\магазин\Downloads\Скриншот-15-08-2024 16_03_1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040" y="2139702"/>
            <a:ext cx="7164288" cy="2608771"/>
          </a:xfrm>
          <a:prstGeom prst="rect">
            <a:avLst/>
          </a:prstGeom>
          <a:noFill/>
        </p:spPr>
      </p:pic>
      <p:pic>
        <p:nvPicPr>
          <p:cNvPr id="8" name="Picture 3" descr="C:\Users\магазин\Downloads\Скриншот-15-08-2024 16_01_5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7544" y="1131590"/>
            <a:ext cx="5597798" cy="8954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 smtClean="0"/>
              <a:t>GROUP BY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 descr="C:\Users\магазин\Downloads\Скриншот-15-08-2024 16_12_0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1275606"/>
            <a:ext cx="7740352" cy="29799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HAVING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3963592" cy="110799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fontAlgn="base"/>
            <a:r>
              <a:rPr lang="en-US" dirty="0" smtClean="0"/>
              <a:t>SELECT </a:t>
            </a:r>
            <a:r>
              <a:rPr lang="ru-RU" dirty="0" smtClean="0"/>
              <a:t>столбцы</a:t>
            </a:r>
          </a:p>
          <a:p>
            <a:pPr fontAlgn="base"/>
            <a:r>
              <a:rPr lang="en-US" dirty="0" smtClean="0"/>
              <a:t>FROM </a:t>
            </a:r>
            <a:r>
              <a:rPr lang="ru-RU" dirty="0" smtClean="0"/>
              <a:t>таблица</a:t>
            </a:r>
          </a:p>
          <a:p>
            <a:pPr fontAlgn="base"/>
            <a:r>
              <a:rPr lang="ru-RU" dirty="0" smtClean="0"/>
              <a:t>[</a:t>
            </a:r>
            <a:r>
              <a:rPr lang="en-US" dirty="0" smtClean="0"/>
              <a:t>WHERE </a:t>
            </a:r>
            <a:r>
              <a:rPr lang="ru-RU" dirty="0" err="1" smtClean="0"/>
              <a:t>условие_фильтрации_строк</a:t>
            </a:r>
            <a:r>
              <a:rPr lang="ru-RU" dirty="0" smtClean="0"/>
              <a:t>]</a:t>
            </a:r>
          </a:p>
          <a:p>
            <a:pPr fontAlgn="base"/>
            <a:r>
              <a:rPr lang="ru-RU" dirty="0" smtClean="0"/>
              <a:t>[</a:t>
            </a:r>
            <a:r>
              <a:rPr lang="en-US" dirty="0" smtClean="0"/>
              <a:t>GROUP BY </a:t>
            </a:r>
            <a:r>
              <a:rPr lang="ru-RU" dirty="0" err="1" smtClean="0"/>
              <a:t>столбцы_для_группировки</a:t>
            </a:r>
            <a:r>
              <a:rPr lang="ru-RU" dirty="0" smtClean="0"/>
              <a:t>]</a:t>
            </a:r>
          </a:p>
          <a:p>
            <a:pPr fontAlgn="base"/>
            <a:r>
              <a:rPr lang="ru-RU" dirty="0" smtClean="0"/>
              <a:t>[</a:t>
            </a:r>
            <a:r>
              <a:rPr lang="en-US" dirty="0" smtClean="0"/>
              <a:t>HAVING </a:t>
            </a:r>
            <a:r>
              <a:rPr lang="ru-RU" dirty="0" err="1" smtClean="0"/>
              <a:t>условие_фильтрации_групп</a:t>
            </a:r>
            <a:r>
              <a:rPr lang="ru-RU" dirty="0" smtClean="0"/>
              <a:t>]</a:t>
            </a:r>
          </a:p>
          <a:p>
            <a:pPr fontAlgn="base"/>
            <a:r>
              <a:rPr lang="ru-RU" dirty="0" smtClean="0"/>
              <a:t>[</a:t>
            </a:r>
            <a:r>
              <a:rPr lang="en-US" dirty="0" smtClean="0"/>
              <a:t>ORDER BY </a:t>
            </a:r>
            <a:r>
              <a:rPr lang="ru-RU" dirty="0" err="1" smtClean="0"/>
              <a:t>столбцы_для_сортировки</a:t>
            </a:r>
            <a:r>
              <a:rPr lang="ru-RU" dirty="0" smtClean="0"/>
              <a:t>]</a:t>
            </a:r>
            <a:endParaRPr lang="ru-RU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HAVING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C:\Users\магазин\Downloads\Скриншот-15-08-2024 16_58_4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1707654"/>
            <a:ext cx="2736304" cy="1522455"/>
          </a:xfrm>
          <a:prstGeom prst="rect">
            <a:avLst/>
          </a:prstGeom>
          <a:noFill/>
        </p:spPr>
      </p:pic>
      <p:pic>
        <p:nvPicPr>
          <p:cNvPr id="2050" name="Picture 2" descr="C:\Users\магазин\Downloads\6.5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47864" y="1347614"/>
            <a:ext cx="2664296" cy="2034422"/>
          </a:xfrm>
          <a:prstGeom prst="rect">
            <a:avLst/>
          </a:prstGeom>
          <a:noFill/>
        </p:spPr>
      </p:pic>
      <p:pic>
        <p:nvPicPr>
          <p:cNvPr id="2051" name="Picture 3" descr="C:\Users\магазин\Downloads\6.6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56176" y="1347614"/>
            <a:ext cx="2821180" cy="20162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HAVING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4" name="Picture 2" descr="C:\Users\магазин\Downloads\6.7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552" y="1275606"/>
            <a:ext cx="3770213" cy="23373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 smtClean="0"/>
              <a:t>GROUPING </a:t>
            </a:r>
            <a:r>
              <a:rPr lang="en-US" b="1" dirty="0" smtClean="0"/>
              <a:t>SETS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11560" y="1347614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Оператор </a:t>
            </a:r>
            <a:r>
              <a:rPr lang="ru-RU" b="1" dirty="0" smtClean="0"/>
              <a:t>GROUPING SETS</a:t>
            </a:r>
            <a:r>
              <a:rPr lang="ru-RU" dirty="0" smtClean="0"/>
              <a:t> группирует </a:t>
            </a:r>
            <a:r>
              <a:rPr lang="ru-RU" dirty="0" err="1" smtClean="0"/>
              <a:t>получемые</a:t>
            </a:r>
            <a:r>
              <a:rPr lang="ru-RU" dirty="0" smtClean="0"/>
              <a:t> наборы отдельно</a:t>
            </a:r>
            <a:endParaRPr lang="ru-RU" dirty="0"/>
          </a:p>
        </p:txBody>
      </p:sp>
      <p:pic>
        <p:nvPicPr>
          <p:cNvPr id="4098" name="Picture 2" descr="C:\Users\магазин\Downloads\6.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576" y="1995686"/>
            <a:ext cx="2813050" cy="2571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 smtClean="0"/>
              <a:t>ROLLUP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11560" y="1347614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Оператор </a:t>
            </a:r>
            <a:r>
              <a:rPr lang="ru-RU" b="1" dirty="0" smtClean="0"/>
              <a:t>ROLLUP</a:t>
            </a:r>
            <a:r>
              <a:rPr lang="ru-RU" dirty="0" smtClean="0"/>
              <a:t> добавляет суммирующую строку в результирующий набор</a:t>
            </a:r>
            <a:endParaRPr lang="ru-RU" dirty="0"/>
          </a:p>
        </p:txBody>
      </p:sp>
      <p:pic>
        <p:nvPicPr>
          <p:cNvPr id="5122" name="Picture 2" descr="C:\Users\магазин\Downloads\6.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3568" y="2211710"/>
            <a:ext cx="3922541" cy="21602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 smtClean="0"/>
              <a:t>CUBE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11560" y="1185014"/>
            <a:ext cx="288032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/>
              <a:t>CUBE</a:t>
            </a:r>
            <a:r>
              <a:rPr lang="ru-RU" dirty="0" smtClean="0"/>
              <a:t> похож на ROLLUP за тем исключением, что CUBE добавляет суммирующие строки для каждой комбинации групп.</a:t>
            </a:r>
            <a:endParaRPr lang="ru-RU" dirty="0"/>
          </a:p>
        </p:txBody>
      </p:sp>
      <p:pic>
        <p:nvPicPr>
          <p:cNvPr id="6146" name="Picture 2" descr="C:\Users\магазин\Downloads\6.1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60032" y="987574"/>
            <a:ext cx="3486150" cy="35877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Агрегатные функции</a:t>
            </a:r>
            <a:endParaRPr lang="ru-RU"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553968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Найти сумму или среднее по столбцу, вычислить количество, минимум или максимум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2739456" cy="221599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b="1" dirty="0" smtClean="0"/>
              <a:t>COUNT</a:t>
            </a:r>
            <a:r>
              <a:rPr lang="en-US" dirty="0" smtClean="0"/>
              <a:t>(*) </a:t>
            </a:r>
            <a:r>
              <a:rPr lang="en-US" b="1" dirty="0" smtClean="0"/>
              <a:t>FROM</a:t>
            </a:r>
            <a:r>
              <a:rPr lang="en-US" dirty="0" smtClean="0"/>
              <a:t> Album a ;</a:t>
            </a:r>
          </a:p>
          <a:p>
            <a:endParaRPr lang="ru-RU" dirty="0" smtClean="0"/>
          </a:p>
          <a:p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b="1" dirty="0" smtClean="0"/>
              <a:t>COUNT</a:t>
            </a:r>
            <a:r>
              <a:rPr lang="en-US" dirty="0" smtClean="0"/>
              <a:t>(*) </a:t>
            </a:r>
            <a:r>
              <a:rPr lang="en-US" b="1" dirty="0" smtClean="0"/>
              <a:t>FROM</a:t>
            </a:r>
            <a:r>
              <a:rPr lang="en-US" dirty="0" smtClean="0"/>
              <a:t> Album a </a:t>
            </a:r>
            <a:r>
              <a:rPr lang="en-US" b="1" dirty="0" smtClean="0"/>
              <a:t>WHERE</a:t>
            </a:r>
            <a:r>
              <a:rPr lang="en-US" dirty="0" smtClean="0"/>
              <a:t> Title = 'Balls to the Wall';</a:t>
            </a:r>
          </a:p>
          <a:p>
            <a:endParaRPr lang="ru-RU" dirty="0" smtClean="0"/>
          </a:p>
          <a:p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b="1" dirty="0" smtClean="0"/>
              <a:t>SUM</a:t>
            </a:r>
            <a:r>
              <a:rPr lang="en-US" dirty="0" smtClean="0"/>
              <a:t>(Total) </a:t>
            </a:r>
            <a:r>
              <a:rPr lang="en-US" b="1" dirty="0" smtClean="0"/>
              <a:t>FROM</a:t>
            </a:r>
            <a:r>
              <a:rPr lang="en-US" dirty="0" smtClean="0"/>
              <a:t> Invoice </a:t>
            </a:r>
            <a:r>
              <a:rPr lang="en-US" dirty="0" err="1" smtClean="0"/>
              <a:t>i</a:t>
            </a:r>
            <a:r>
              <a:rPr lang="en-US" dirty="0" smtClean="0"/>
              <a:t> ;</a:t>
            </a:r>
          </a:p>
          <a:p>
            <a:endParaRPr lang="ru-RU" dirty="0" smtClean="0"/>
          </a:p>
          <a:p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b="1" dirty="0" smtClean="0"/>
              <a:t>AVG</a:t>
            </a:r>
            <a:r>
              <a:rPr lang="en-US" dirty="0" smtClean="0"/>
              <a:t>(Total) </a:t>
            </a:r>
            <a:r>
              <a:rPr lang="en-US" b="1" dirty="0" smtClean="0"/>
              <a:t>FROM</a:t>
            </a:r>
            <a:r>
              <a:rPr lang="en-US" dirty="0" smtClean="0"/>
              <a:t> Invoice </a:t>
            </a:r>
            <a:r>
              <a:rPr lang="en-US" dirty="0" err="1" smtClean="0"/>
              <a:t>i</a:t>
            </a:r>
            <a:r>
              <a:rPr lang="en-US" dirty="0" smtClean="0"/>
              <a:t> ;</a:t>
            </a:r>
          </a:p>
          <a:p>
            <a:r>
              <a:rPr lang="ru-RU" dirty="0" smtClean="0"/>
              <a:t> </a:t>
            </a:r>
            <a:endParaRPr lang="en-US" dirty="0" smtClean="0"/>
          </a:p>
          <a:p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b="1" dirty="0" smtClean="0"/>
              <a:t>MAX</a:t>
            </a:r>
            <a:r>
              <a:rPr lang="en-US" dirty="0" smtClean="0"/>
              <a:t>(Total) </a:t>
            </a:r>
            <a:r>
              <a:rPr lang="en-US" b="1" dirty="0" smtClean="0"/>
              <a:t>FROM</a:t>
            </a:r>
            <a:r>
              <a:rPr lang="en-US" dirty="0" smtClean="0"/>
              <a:t> Invoice </a:t>
            </a:r>
            <a:r>
              <a:rPr lang="en-US" dirty="0" err="1" smtClean="0"/>
              <a:t>i</a:t>
            </a:r>
            <a:r>
              <a:rPr lang="en-US" dirty="0" smtClean="0"/>
              <a:t> ;</a:t>
            </a:r>
          </a:p>
          <a:p>
            <a:endParaRPr lang="ru-RU" dirty="0" smtClean="0"/>
          </a:p>
          <a:p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b="1" dirty="0" smtClean="0"/>
              <a:t>MIN</a:t>
            </a:r>
            <a:r>
              <a:rPr lang="en-US" dirty="0" smtClean="0"/>
              <a:t>(Total) </a:t>
            </a:r>
            <a:r>
              <a:rPr lang="en-US" b="1" dirty="0" smtClean="0"/>
              <a:t>FROM</a:t>
            </a:r>
            <a:r>
              <a:rPr lang="en-US" dirty="0" smtClean="0"/>
              <a:t> Invoice </a:t>
            </a:r>
            <a:r>
              <a:rPr lang="en-US" dirty="0" err="1" smtClean="0"/>
              <a:t>i</a:t>
            </a:r>
            <a:r>
              <a:rPr lang="en-US" dirty="0" smtClean="0"/>
              <a:t> ;</a:t>
            </a:r>
            <a:endParaRPr lang="ru-RU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79517" y="3939902"/>
            <a:ext cx="3012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Какой результат у этих запросов?</a:t>
            </a:r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0"/>
          <p:cNvSpPr txBox="1">
            <a:spLocks noGrp="1"/>
          </p:cNvSpPr>
          <p:nvPr>
            <p:ph type="title"/>
          </p:nvPr>
        </p:nvSpPr>
        <p:spPr>
          <a:xfrm>
            <a:off x="468000" y="1048400"/>
            <a:ext cx="6840000" cy="25521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lvl="0"/>
            <a:r>
              <a:rPr lang="ru-RU" dirty="0" smtClean="0"/>
              <a:t>Оконные функции</a:t>
            </a:r>
            <a:endParaRPr lang="ru-RU" dirty="0"/>
          </a:p>
        </p:txBody>
      </p:sp>
      <p:sp>
        <p:nvSpPr>
          <p:cNvPr id="349" name="Google Shape;349;p50"/>
          <p:cNvSpPr txBox="1">
            <a:spLocks noGrp="1"/>
          </p:cNvSpPr>
          <p:nvPr>
            <p:ph type="subTitle" idx="1"/>
          </p:nvPr>
        </p:nvSpPr>
        <p:spPr>
          <a:xfrm>
            <a:off x="468000" y="3600600"/>
            <a:ext cx="5400000" cy="73863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/>
          <a:p>
            <a:r>
              <a:rPr lang="ru-RU" dirty="0" smtClean="0"/>
              <a:t>функция, которая работает с выделенным набором строк (окном, </a:t>
            </a:r>
            <a:r>
              <a:rPr lang="ru-RU" dirty="0" err="1" smtClean="0"/>
              <a:t>партицией</a:t>
            </a:r>
            <a:r>
              <a:rPr lang="ru-RU" dirty="0" smtClean="0"/>
              <a:t>) и выполняет вычисление для этого набора строк в отдельном столбце. </a:t>
            </a:r>
            <a:endParaRPr lang="en-US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 descr="C:\Users\магазин\Downloads\3e5dd68c86651bdd7774dd6b15fb5288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7624" y="987574"/>
            <a:ext cx="7530901" cy="308777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146" name="Picture 2" descr="C:\Users\магазин\Downloads\90a39588318aad8a733e87647d797af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1600" y="1275606"/>
            <a:ext cx="7232478" cy="26182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170" name="Picture 2" descr="C:\Users\магазин\Downloads\696a8dcb16b5c8e4499961dab2b8f19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528" y="1131590"/>
            <a:ext cx="8511897" cy="25493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" name="Picture 2" descr="C:\Users\магазин\Downloads\Скриншот-15-08-2024 17_43_26 (1)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536" y="699542"/>
            <a:ext cx="6767736" cy="355848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Виды</a:t>
            </a:r>
            <a:endParaRPr lang="ru-RU" b="1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219" name="Picture 3" descr="C:\Users\магазин\Downloads\dbc8adcb9ffeaddfca54a01cd101e75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552" y="1059582"/>
            <a:ext cx="5544616" cy="2803693"/>
          </a:xfrm>
          <a:prstGeom prst="rect">
            <a:avLst/>
          </a:prstGeom>
          <a:noFill/>
        </p:spPr>
      </p:pic>
      <p:sp>
        <p:nvSpPr>
          <p:cNvPr id="12" name="Прямоугольник 11"/>
          <p:cNvSpPr/>
          <p:nvPr/>
        </p:nvSpPr>
        <p:spPr>
          <a:xfrm>
            <a:off x="539552" y="4227934"/>
            <a:ext cx="29883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https://habr.com/ru/articles/664000/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Порядок расчета </a:t>
            </a:r>
            <a:r>
              <a:rPr lang="ru-RU" b="1" dirty="0" smtClean="0"/>
              <a:t>в </a:t>
            </a:r>
            <a:r>
              <a:rPr lang="ru-RU" b="1" dirty="0" smtClean="0"/>
              <a:t>SQL запросе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2739456" cy="276998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ru-RU" dirty="0" smtClean="0"/>
              <a:t>Сначала выполняется команда выборки таблиц, их объединения и возможные подзапросы под командой FROM.</a:t>
            </a:r>
          </a:p>
          <a:p>
            <a:r>
              <a:rPr lang="ru-RU" dirty="0" smtClean="0"/>
              <a:t>Далее выполняются условия фильтрации WHERE, группировки GROUP BY и возможная фильтрация </a:t>
            </a:r>
            <a:r>
              <a:rPr lang="ru-RU" dirty="0" err="1" smtClean="0"/>
              <a:t>c</a:t>
            </a:r>
            <a:r>
              <a:rPr lang="ru-RU" dirty="0" smtClean="0"/>
              <a:t> HAVING</a:t>
            </a:r>
          </a:p>
          <a:p>
            <a:r>
              <a:rPr lang="ru-RU" dirty="0" smtClean="0"/>
              <a:t>Только потом применяется команда выборки столбцов SELECT и расчет оконных функций под выборкой. </a:t>
            </a:r>
          </a:p>
          <a:p>
            <a:r>
              <a:rPr lang="ru-RU" dirty="0" smtClean="0"/>
              <a:t>После этого идет условие сортировки ORDER BY, где тоже можно указать столбец расчета оконной функции для сортировки. </a:t>
            </a:r>
            <a:endParaRPr lang="ru-RU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194" name="Picture 2" descr="C:\Users\магазин\Downloads\3c5829ff6fdce67e967d07515eee3bc5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7984" y="1419622"/>
            <a:ext cx="3555705" cy="239803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9"/>
          <p:cNvSpPr txBox="1">
            <a:spLocks noGrp="1"/>
          </p:cNvSpPr>
          <p:nvPr>
            <p:ph type="title"/>
          </p:nvPr>
        </p:nvSpPr>
        <p:spPr>
          <a:xfrm>
            <a:off x="540000" y="720000"/>
            <a:ext cx="806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 smtClean="0"/>
              <a:t>Задание</a:t>
            </a:r>
            <a:endParaRPr lang="ru-RU" b="1" dirty="0"/>
          </a:p>
        </p:txBody>
      </p:sp>
      <p:sp>
        <p:nvSpPr>
          <p:cNvPr id="341" name="Google Shape;341;p49"/>
          <p:cNvSpPr txBox="1">
            <a:spLocks noGrp="1"/>
          </p:cNvSpPr>
          <p:nvPr>
            <p:ph type="subTitle" idx="1"/>
          </p:nvPr>
        </p:nvSpPr>
        <p:spPr>
          <a:xfrm>
            <a:off x="536400" y="1260000"/>
            <a:ext cx="2739456" cy="147732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 dirty="0" smtClean="0"/>
              <a:t>select</a:t>
            </a:r>
            <a:endParaRPr lang="en-US" dirty="0" smtClean="0"/>
          </a:p>
          <a:p>
            <a:r>
              <a:rPr lang="en-US" dirty="0" err="1" smtClean="0"/>
              <a:t>customerid</a:t>
            </a:r>
            <a:r>
              <a:rPr lang="en-US" dirty="0" smtClean="0"/>
              <a:t>,</a:t>
            </a:r>
          </a:p>
          <a:p>
            <a:r>
              <a:rPr lang="en-US" dirty="0" err="1" smtClean="0"/>
              <a:t>firstname</a:t>
            </a:r>
            <a:r>
              <a:rPr lang="en-US" dirty="0" smtClean="0"/>
              <a:t>,</a:t>
            </a:r>
          </a:p>
          <a:p>
            <a:r>
              <a:rPr lang="en-US" u="sng" dirty="0" smtClean="0"/>
              <a:t>country</a:t>
            </a:r>
            <a:r>
              <a:rPr lang="en-US" dirty="0" smtClean="0"/>
              <a:t>,</a:t>
            </a:r>
          </a:p>
          <a:p>
            <a:r>
              <a:rPr lang="en-US" b="1" dirty="0" err="1" smtClean="0"/>
              <a:t>avg</a:t>
            </a:r>
            <a:r>
              <a:rPr lang="en-US" dirty="0" smtClean="0"/>
              <a:t>(</a:t>
            </a:r>
            <a:r>
              <a:rPr lang="en-US" dirty="0" err="1" smtClean="0"/>
              <a:t>supportrepid</a:t>
            </a:r>
            <a:r>
              <a:rPr lang="en-US" dirty="0" smtClean="0"/>
              <a:t>) </a:t>
            </a:r>
            <a:r>
              <a:rPr lang="en-US" b="1" dirty="0" smtClean="0"/>
              <a:t>over</a:t>
            </a:r>
            <a:r>
              <a:rPr lang="en-US" dirty="0" smtClean="0"/>
              <a:t> (</a:t>
            </a:r>
            <a:r>
              <a:rPr lang="en-US" b="1" dirty="0" smtClean="0"/>
              <a:t>partition</a:t>
            </a:r>
            <a:r>
              <a:rPr lang="en-US" dirty="0" smtClean="0"/>
              <a:t> </a:t>
            </a:r>
            <a:r>
              <a:rPr lang="en-US" b="1" dirty="0" smtClean="0"/>
              <a:t>by</a:t>
            </a:r>
            <a:r>
              <a:rPr lang="en-US" dirty="0" smtClean="0"/>
              <a:t> country)</a:t>
            </a:r>
          </a:p>
          <a:p>
            <a:r>
              <a:rPr lang="en-US" b="1" dirty="0" smtClean="0"/>
              <a:t>from</a:t>
            </a:r>
            <a:endParaRPr lang="en-US" dirty="0" smtClean="0"/>
          </a:p>
          <a:p>
            <a:r>
              <a:rPr lang="en-US" dirty="0" smtClean="0"/>
              <a:t>customer </a:t>
            </a:r>
            <a:r>
              <a:rPr lang="en-US" i="1" dirty="0" smtClean="0"/>
              <a:t>c</a:t>
            </a:r>
            <a:r>
              <a:rPr lang="en-US" dirty="0" smtClean="0"/>
              <a:t> ;</a:t>
            </a:r>
            <a:endParaRPr lang="en-US" dirty="0"/>
          </a:p>
        </p:txBody>
      </p:sp>
      <p:sp>
        <p:nvSpPr>
          <p:cNvPr id="343" name="Google Shape;343;p49"/>
          <p:cNvSpPr txBox="1">
            <a:spLocks noGrp="1"/>
          </p:cNvSpPr>
          <p:nvPr>
            <p:ph type="subTitle" idx="2"/>
          </p:nvPr>
        </p:nvSpPr>
        <p:spPr>
          <a:xfrm>
            <a:off x="540000" y="152400"/>
            <a:ext cx="8064000" cy="360000"/>
          </a:xfrm>
          <a:prstGeom prst="rect">
            <a:avLst/>
          </a:prstGeom>
        </p:spPr>
        <p:txBody>
          <a:bodyPr spcFirstLastPara="1" wrap="square" lIns="0" tIns="36000" rIns="0" bIns="36000" anchor="ctr" anchorCtr="0">
            <a:noAutofit/>
          </a:bodyPr>
          <a:lstStyle/>
          <a:p>
            <a:pPr lvl="0"/>
            <a:r>
              <a:rPr lang="ru-RU" dirty="0" smtClean="0"/>
              <a:t>Инженер данных. Профессия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479517" y="3939902"/>
            <a:ext cx="3012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Какой результат у этих запросов?</a:t>
            </a:r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67944" y="1563638"/>
            <a:ext cx="1435603" cy="1799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Прямоугольник 2"/>
          <p:cNvSpPr/>
          <p:nvPr/>
        </p:nvSpPr>
        <p:spPr>
          <a:xfrm>
            <a:off x="7236296" y="4011910"/>
            <a:ext cx="1907704" cy="113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907704" cy="113159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Макет шаблона GB">
  <a:themeElements>
    <a:clrScheme name="Simple Light">
      <a:dk1>
        <a:srgbClr val="000000"/>
      </a:dk1>
      <a:lt1>
        <a:srgbClr val="FFFFFF"/>
      </a:lt1>
      <a:dk2>
        <a:srgbClr val="8F93A3"/>
      </a:dk2>
      <a:lt2>
        <a:srgbClr val="B7B9C8"/>
      </a:lt2>
      <a:accent1>
        <a:srgbClr val="6654D9"/>
      </a:accent1>
      <a:accent2>
        <a:srgbClr val="F65121"/>
      </a:accent2>
      <a:accent3>
        <a:srgbClr val="E0FF23"/>
      </a:accent3>
      <a:accent4>
        <a:srgbClr val="F458E3"/>
      </a:accent4>
      <a:accent5>
        <a:srgbClr val="1BAFAF"/>
      </a:accent5>
      <a:accent6>
        <a:srgbClr val="FFDB00"/>
      </a:accent6>
      <a:hlink>
        <a:srgbClr val="6654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3064</TotalTime>
  <Words>512</Words>
  <Application>Microsoft Office PowerPoint</Application>
  <PresentationFormat>Экран (16:9)</PresentationFormat>
  <Paragraphs>117</Paragraphs>
  <Slides>30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IBM Plex Sans SemiBold</vt:lpstr>
      <vt:lpstr>IBM Plex Sans</vt:lpstr>
      <vt:lpstr>Roboto</vt:lpstr>
      <vt:lpstr>Simple Light</vt:lpstr>
      <vt:lpstr>Макет шаблона GB</vt:lpstr>
      <vt:lpstr>ПРОДОЛЖЕНИЕ УГЛУБЛЕНИЯ В SQL </vt:lpstr>
      <vt:lpstr>О чем поговорим</vt:lpstr>
      <vt:lpstr>Экспорт и импорт</vt:lpstr>
      <vt:lpstr>Инструкция по созданию БД и таблиц</vt:lpstr>
      <vt:lpstr>Простые запросы</vt:lpstr>
      <vt:lpstr>Задание</vt:lpstr>
      <vt:lpstr>Для справки</vt:lpstr>
      <vt:lpstr>Составные запросы</vt:lpstr>
      <vt:lpstr>Задание</vt:lpstr>
      <vt:lpstr>GROUP BY</vt:lpstr>
      <vt:lpstr>GROUP BY</vt:lpstr>
      <vt:lpstr>GROUP BY</vt:lpstr>
      <vt:lpstr>HAVING</vt:lpstr>
      <vt:lpstr>HAVING</vt:lpstr>
      <vt:lpstr>HAVING</vt:lpstr>
      <vt:lpstr>GROUPING SETS</vt:lpstr>
      <vt:lpstr>ROLLUP</vt:lpstr>
      <vt:lpstr>CUBE</vt:lpstr>
      <vt:lpstr>Агрегатные функции</vt:lpstr>
      <vt:lpstr>Задание</vt:lpstr>
      <vt:lpstr>Оконные функции</vt:lpstr>
      <vt:lpstr>Слайд 22</vt:lpstr>
      <vt:lpstr>Слайд 23</vt:lpstr>
      <vt:lpstr>Слайд 24</vt:lpstr>
      <vt:lpstr>Слайд 25</vt:lpstr>
      <vt:lpstr>Виды</vt:lpstr>
      <vt:lpstr>Порядок расчета в SQL запросе</vt:lpstr>
      <vt:lpstr>Задание</vt:lpstr>
      <vt:lpstr>Слайд 29</vt:lpstr>
      <vt:lpstr>Слайд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Дизайнер. Профессия </dc:title>
  <cp:lastModifiedBy>магазин</cp:lastModifiedBy>
  <cp:revision>92</cp:revision>
  <dcterms:modified xsi:type="dcterms:W3CDTF">2024-08-15T17:55:36Z</dcterms:modified>
</cp:coreProperties>
</file>